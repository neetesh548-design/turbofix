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 I'm not here to convince you TurboFix is a great product. I'm here to test one thing with you — whether the problem I've picked is real and worth 2 years of my life. You've spent decades on the shop floor. If the pain isn't real, I'd rather hear it in the next 10 minutes than after 10 months of building. So please interrupt and push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pain in one line. In an MSME factory, a breakdown gets reported by a worker walking up to someone, or a phone call, or a WhatsApp message that gets lost. There's no clean record of what happened, who was informed, and how long the machine stayed down. My claim is: this invisible gap costs real money and nobody owns it. Tell me if I'm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Whose problem is this, really? I believe it's the owner's. The worker adjusts, the technician firefights — but the owner is flying blind. He learns about downtime after the fact, has no data on which machine keeps failing, and can't hold anyone accountable because there's no record. Sir — from what you've seen, is the owner actually in pain here, or has he already made peace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gap exists isn't laziness — it's friction. A worker isn't going to fill a form or open an app. The big maintenance software exists, but it's built for Tata and Bajaj, not a 50-person unit in MIDC. So the mid-size factory is stuck with shout-and-hope. I want to know: in your experience, is friction the real reason, or is it something else — cost, trust, owner apathy?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honest about my evidence. I've talked to / visited — fill in your real data. What I don't have yet is a real owner telling me this cost me X rupees last month. That's the biggest hole in my case, and it's exactly why I'm sitting with you. If you were me, what one piece of evidence would convince you the pain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rough math on how big the pain is — and I want you to tear these numbers apart, because I'm guessing. If a breakdown hour costs a factory even a few thousand rupees, and it happens several times a month, the untracked loss adds up fast. Are these numbers in the right ballpark, or am I off by 10x in either direction? Fill these blanks with the senior's own numbers live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spend just 30 seconds on the solution, because today is about the problem. The idea is: no app, no typing. The worker scans a sticker, speaks into WhatsApp, and AI does the rest. The owner finally gets a record. That's it. I'm deliberately not going deep here — if the problem isn't real, the cleverness of this doesn't matter. Don't let the senior drag you into a feature debate — steer back to the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couldn't be built 5 years ago is that voice-to-text AI was expensive and WhatsApp Business wasn't open. Now a ticket costs me about 50 paise to process, and the worker already has WhatsApp muscle memory. So the adoption barrier — which is what killed every previous tool — is basically zero. Does that ring true, or do you think workers will still resist?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argue against myself, because I'd rather you trust my judgment. This could be the wrong problem if: owners have simply accepted breakdowns, or if the real pain is spare-part delays and skilled-technician shortage — not the reporting gap I'm obsessed with. Which of these worries you most? Because if the bottleneck is really parts and skill, I'm solving a symptom, not the disease. This is your most important slide — a senior trusts you far more when you've already found the counter-argument.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exactly what I need from you. First — is this a real pain, yes or no, from what you've lived? Second — if I've picked the wrong pain, what's the bigger one I'm missing? And third, the most valuable thing you can give me — the name of one factory owner I can go and validate this with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sir. I'm not attached to TurboFix — I'm attached to solving a problem that's actually worth solving. So please be blunt with me. Where am I fooling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Shape 0"/>
          <p:cNvSpPr/>
          <p:nvPr/>
        </p:nvSpPr>
        <p:spPr>
          <a:xfrm>
            <a:off x="9235440" y="3657600"/>
            <a:ext cx="5120640" cy="5120640"/>
          </a:xfrm>
          <a:prstGeom prst="ellipse">
            <a:avLst/>
          </a:prstGeom>
          <a:solidFill>
            <a:srgbClr val="2C3E52"/>
          </a:solidFill>
          <a:ln/>
        </p:spPr>
      </p:sp>
      <p:sp>
        <p:nvSpPr>
          <p:cNvPr id="3" name="Shape 1"/>
          <p:cNvSpPr/>
          <p:nvPr/>
        </p:nvSpPr>
        <p:spPr>
          <a:xfrm>
            <a:off x="10378440" y="4709160"/>
            <a:ext cx="2834640" cy="2834640"/>
          </a:xfrm>
          <a:prstGeom prst="ellipse">
            <a:avLst/>
          </a:prstGeom>
          <a:solidFill>
            <a:srgbClr val="F5A623"/>
          </a:solidFill>
          <a:ln/>
        </p:spPr>
      </p:sp>
      <p:sp>
        <p:nvSpPr>
          <p:cNvPr id="4" name="Text 2"/>
          <p:cNvSpPr/>
          <p:nvPr/>
        </p:nvSpPr>
        <p:spPr>
          <a:xfrm>
            <a:off x="10378440" y="4617720"/>
            <a:ext cx="2834640" cy="2834640"/>
          </a:xfrm>
          <a:prstGeom prst="rect">
            <a:avLst/>
          </a:prstGeom>
          <a:noFill/>
          <a:ln/>
        </p:spPr>
        <p:txBody>
          <a:bodyPr wrap="square" lIns="0" tIns="0" rIns="0" bIns="0" rtlCol="0" anchor="ctr"/>
          <a:lstStyle/>
          <a:p>
            <a:pPr algn="ctr" indent="0" marL="0">
              <a:buNone/>
            </a:pPr>
            <a:r>
              <a:rPr lang="en-US" sz="9000" b="1" dirty="0">
                <a:solidFill>
                  <a:srgbClr val="16202E"/>
                </a:solidFill>
                <a:latin typeface="Calibri" pitchFamily="34" charset="0"/>
                <a:ea typeface="Calibri" pitchFamily="34" charset="-122"/>
                <a:cs typeface="Calibri" pitchFamily="34" charset="-120"/>
              </a:rPr>
              <a:t>↻</a:t>
            </a:r>
            <a:endParaRPr lang="en-US" sz="9000" dirty="0"/>
          </a:p>
        </p:txBody>
      </p:sp>
      <p:sp>
        <p:nvSpPr>
          <p:cNvPr id="5" name="Text 3"/>
          <p:cNvSpPr/>
          <p:nvPr/>
        </p:nvSpPr>
        <p:spPr>
          <a:xfrm>
            <a:off x="822960" y="10515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PROBLEM-VALIDATION PITCH</a:t>
            </a:r>
            <a:endParaRPr lang="en-US" sz="1250" dirty="0"/>
          </a:p>
        </p:txBody>
      </p:sp>
      <p:sp>
        <p:nvSpPr>
          <p:cNvPr id="6" name="Text 4"/>
          <p:cNvSpPr/>
          <p:nvPr/>
        </p:nvSpPr>
        <p:spPr>
          <a:xfrm>
            <a:off x="777240" y="1371600"/>
            <a:ext cx="8229600" cy="137160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TurboFix</a:t>
            </a:r>
            <a:endParaRPr lang="en-US" sz="7600" dirty="0"/>
          </a:p>
        </p:txBody>
      </p:sp>
      <p:sp>
        <p:nvSpPr>
          <p:cNvPr id="7" name="Text 5"/>
          <p:cNvSpPr/>
          <p:nvPr/>
        </p:nvSpPr>
        <p:spPr>
          <a:xfrm>
            <a:off x="822960" y="2743200"/>
            <a:ext cx="8229600" cy="731520"/>
          </a:xfrm>
          <a:prstGeom prst="rect">
            <a:avLst/>
          </a:prstGeom>
          <a:noFill/>
          <a:ln/>
        </p:spPr>
        <p:txBody>
          <a:bodyPr wrap="square" lIns="0" tIns="0" rIns="0" bIns="0" rtlCol="0" anchor="ctr"/>
          <a:lstStyle/>
          <a:p>
            <a:pPr indent="0" marL="0">
              <a:buNone/>
            </a:pPr>
            <a:r>
              <a:rPr lang="en-US" sz="3000" i="1" dirty="0">
                <a:solidFill>
                  <a:srgbClr val="F5A623"/>
                </a:solidFill>
                <a:latin typeface="Cambria" pitchFamily="34" charset="0"/>
                <a:ea typeface="Cambria" pitchFamily="34" charset="-122"/>
                <a:cs typeface="Cambria" pitchFamily="34" charset="-120"/>
              </a:rPr>
              <a:t>Is this the right problem to solve?</a:t>
            </a:r>
            <a:endParaRPr lang="en-US" sz="3000" dirty="0"/>
          </a:p>
        </p:txBody>
      </p:sp>
      <p:sp>
        <p:nvSpPr>
          <p:cNvPr id="8" name="Text 6"/>
          <p:cNvSpPr/>
          <p:nvPr/>
        </p:nvSpPr>
        <p:spPr>
          <a:xfrm>
            <a:off x="822960" y="3703320"/>
            <a:ext cx="7863840" cy="548640"/>
          </a:xfrm>
          <a:prstGeom prst="rect">
            <a:avLst/>
          </a:prstGeom>
          <a:noFill/>
          <a:ln/>
        </p:spPr>
        <p:txBody>
          <a:bodyPr wrap="square" lIns="0" tIns="0" rIns="0" bIns="0" rtlCol="0" anchor="ctr"/>
          <a:lstStyle/>
          <a:p>
            <a:pPr indent="0" marL="0">
              <a:buNone/>
            </a:pPr>
            <a:r>
              <a:rPr lang="en-US" sz="1700" dirty="0">
                <a:solidFill>
                  <a:srgbClr val="C7D2DE"/>
                </a:solidFill>
                <a:latin typeface="Calibri" pitchFamily="34" charset="0"/>
                <a:ea typeface="Calibri" pitchFamily="34" charset="-122"/>
                <a:cs typeface="Calibri" pitchFamily="34" charset="-120"/>
              </a:rPr>
              <a:t>A 10-minute pitch. I want your critique — not your approval.</a:t>
            </a:r>
            <a:endParaRPr lang="en-US" sz="1700" dirty="0"/>
          </a:p>
        </p:txBody>
      </p:sp>
      <p:sp>
        <p:nvSpPr>
          <p:cNvPr id="9" name="Text 7"/>
          <p:cNvSpPr/>
          <p:nvPr/>
        </p:nvSpPr>
        <p:spPr>
          <a:xfrm>
            <a:off x="822960" y="5943600"/>
            <a:ext cx="7315200" cy="365760"/>
          </a:xfrm>
          <a:prstGeom prst="rect">
            <a:avLst/>
          </a:prstGeom>
          <a:noFill/>
          <a:ln/>
        </p:spPr>
        <p:txBody>
          <a:bodyPr wrap="square" lIns="0" tIns="0" rIns="0" bIns="0" rtlCol="0" anchor="ctr"/>
          <a:lstStyle/>
          <a:p>
            <a:pPr indent="0" marL="0">
              <a:buNone/>
            </a:pPr>
            <a:r>
              <a:rPr lang="en-US" sz="1300" dirty="0">
                <a:solidFill>
                  <a:srgbClr val="6B7A8D"/>
                </a:solidFill>
                <a:latin typeface="Calibri" pitchFamily="34" charset="0"/>
                <a:ea typeface="Calibri" pitchFamily="34" charset="-122"/>
                <a:cs typeface="Calibri" pitchFamily="34" charset="-120"/>
              </a:rPr>
              <a:t>Neetesh Kumar Soni   ·   Pune MIDC pilot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THE PAIN POINT</a:t>
            </a:r>
            <a:endParaRPr lang="en-US" sz="1250" dirty="0"/>
          </a:p>
        </p:txBody>
      </p:sp>
      <p:sp>
        <p:nvSpPr>
          <p:cNvPr id="3" name="Text 1"/>
          <p:cNvSpPr/>
          <p:nvPr/>
        </p:nvSpPr>
        <p:spPr>
          <a:xfrm>
            <a:off x="822960" y="914400"/>
            <a:ext cx="10058400" cy="731520"/>
          </a:xfrm>
          <a:prstGeom prst="rect">
            <a:avLst/>
          </a:prstGeom>
          <a:noFill/>
          <a:ln/>
        </p:spPr>
        <p:txBody>
          <a:bodyPr wrap="square" lIns="0" tIns="0" rIns="0" bIns="0" rtlCol="0" anchor="ctr"/>
          <a:lstStyle/>
          <a:p>
            <a:pPr indent="0" marL="0">
              <a:buNone/>
            </a:pPr>
            <a:r>
              <a:rPr lang="en-US" sz="4000" b="1" dirty="0">
                <a:solidFill>
                  <a:srgbClr val="16202E"/>
                </a:solidFill>
                <a:latin typeface="Cambria" pitchFamily="34" charset="0"/>
                <a:ea typeface="Cambria" pitchFamily="34" charset="-122"/>
                <a:cs typeface="Cambria" pitchFamily="34" charset="-120"/>
              </a:rPr>
              <a:t>In one sentence</a:t>
            </a:r>
            <a:endParaRPr lang="en-US" sz="4000" dirty="0"/>
          </a:p>
        </p:txBody>
      </p:sp>
      <p:sp>
        <p:nvSpPr>
          <p:cNvPr id="4" name="Shape 2"/>
          <p:cNvSpPr/>
          <p:nvPr/>
        </p:nvSpPr>
        <p:spPr>
          <a:xfrm>
            <a:off x="822960" y="1965960"/>
            <a:ext cx="10515600" cy="2468880"/>
          </a:xfrm>
          <a:prstGeom prst="roundRect">
            <a:avLst>
              <a:gd name="adj" fmla="val 5185"/>
            </a:avLst>
          </a:prstGeom>
          <a:solidFill>
            <a:srgbClr val="16202E"/>
          </a:solidFill>
          <a:ln/>
        </p:spPr>
      </p:sp>
      <p:sp>
        <p:nvSpPr>
          <p:cNvPr id="5" name="Text 3"/>
          <p:cNvSpPr/>
          <p:nvPr/>
        </p:nvSpPr>
        <p:spPr>
          <a:xfrm>
            <a:off x="1280160" y="2194560"/>
            <a:ext cx="9601200" cy="2011680"/>
          </a:xfrm>
          <a:prstGeom prst="rect">
            <a:avLst/>
          </a:prstGeom>
          <a:noFill/>
          <a:ln/>
        </p:spPr>
        <p:txBody>
          <a:bodyPr wrap="square" lIns="0" tIns="0" rIns="0" bIns="0" rtlCol="0" anchor="ctr"/>
          <a:lstStyle/>
          <a:p>
            <a:pPr indent="0" marL="0">
              <a:lnSpc>
                <a:spcPct val="110000"/>
              </a:lnSpc>
              <a:buNone/>
            </a:pPr>
            <a:r>
              <a:rPr lang="en-US" sz="3000" dirty="0">
                <a:solidFill>
                  <a:srgbClr val="FFFFFF"/>
                </a:solidFill>
                <a:latin typeface="Cambria" pitchFamily="34" charset="0"/>
                <a:ea typeface="Cambria" pitchFamily="34" charset="-122"/>
                <a:cs typeface="Cambria" pitchFamily="34" charset="-120"/>
              </a:rPr>
              <a:t>When a machine breaks, nobody has a reliable record of </a:t>
            </a:r>
            <a:pPr indent="0" marL="0">
              <a:lnSpc>
                <a:spcPct val="110000"/>
              </a:lnSpc>
              <a:buNone/>
            </a:pPr>
            <a:r>
              <a:rPr lang="en-US" sz="3000" b="1" dirty="0">
                <a:solidFill>
                  <a:srgbClr val="F5A623"/>
                </a:solidFill>
                <a:latin typeface="Cambria" pitchFamily="34" charset="0"/>
                <a:ea typeface="Cambria" pitchFamily="34" charset="-122"/>
                <a:cs typeface="Cambria" pitchFamily="34" charset="-120"/>
              </a:rPr>
              <a:t>what broke, who was told, and how long it took to fix.</a:t>
            </a:r>
            <a:endParaRPr lang="en-US" sz="3000" dirty="0"/>
          </a:p>
        </p:txBody>
      </p:sp>
      <p:sp>
        <p:nvSpPr>
          <p:cNvPr id="6" name="Text 4"/>
          <p:cNvSpPr/>
          <p:nvPr/>
        </p:nvSpPr>
        <p:spPr>
          <a:xfrm>
            <a:off x="822960" y="4800600"/>
            <a:ext cx="10515600" cy="548640"/>
          </a:xfrm>
          <a:prstGeom prst="rect">
            <a:avLst/>
          </a:prstGeom>
          <a:noFill/>
          <a:ln/>
        </p:spPr>
        <p:txBody>
          <a:bodyPr wrap="square" lIns="0" tIns="0" rIns="0" bIns="0" rtlCol="0" anchor="ctr"/>
          <a:lstStyle/>
          <a:p>
            <a:pPr indent="0" marL="0">
              <a:buNone/>
            </a:pPr>
            <a:r>
              <a:rPr lang="en-US" sz="1800" i="1" dirty="0">
                <a:solidFill>
                  <a:srgbClr val="6B7A8D"/>
                </a:solidFill>
                <a:latin typeface="Calibri" pitchFamily="34" charset="0"/>
                <a:ea typeface="Calibri" pitchFamily="34" charset="-122"/>
                <a:cs typeface="Calibri" pitchFamily="34" charset="-120"/>
              </a:rPr>
              <a:t>The report lives in a worker's head, a phone call, or a shouted message.</a:t>
            </a:r>
            <a:endParaRPr lang="en-US" sz="1800" dirty="0"/>
          </a:p>
        </p:txBody>
      </p:sp>
      <p:sp>
        <p:nvSpPr>
          <p:cNvPr id="7" name="Text 5"/>
          <p:cNvSpPr/>
          <p:nvPr/>
        </p:nvSpPr>
        <p:spPr>
          <a:xfrm>
            <a:off x="822960" y="5623560"/>
            <a:ext cx="10515600" cy="548640"/>
          </a:xfrm>
          <a:prstGeom prst="rect">
            <a:avLst/>
          </a:prstGeom>
          <a:noFill/>
          <a:ln/>
        </p:spPr>
        <p:txBody>
          <a:bodyPr wrap="square" lIns="0" tIns="0" rIns="0" bIns="0" rtlCol="0" anchor="ctr"/>
          <a:lstStyle/>
          <a:p>
            <a:pPr indent="0" marL="0">
              <a:buNone/>
            </a:pPr>
            <a:r>
              <a:rPr lang="en-US" sz="1600" b="1" dirty="0">
                <a:solidFill>
                  <a:srgbClr val="2C3E52"/>
                </a:solidFill>
                <a:latin typeface="Calibri" pitchFamily="34" charset="0"/>
                <a:ea typeface="Calibri" pitchFamily="34" charset="-122"/>
                <a:cs typeface="Calibri" pitchFamily="34" charset="-120"/>
              </a:rPr>
              <a:t>My claim: this invisible gap costs real money — and nobody owns it. Tell me if I'm wrong.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WHO FEELS IT</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3800" b="1" dirty="0">
                <a:solidFill>
                  <a:srgbClr val="16202E"/>
                </a:solidFill>
                <a:latin typeface="Cambria" pitchFamily="34" charset="0"/>
                <a:ea typeface="Cambria" pitchFamily="34" charset="-122"/>
                <a:cs typeface="Cambria" pitchFamily="34" charset="-120"/>
              </a:rPr>
              <a:t>The person in pain is the owner</a:t>
            </a:r>
            <a:endParaRPr lang="en-US" sz="3800" dirty="0"/>
          </a:p>
        </p:txBody>
      </p:sp>
      <p:sp>
        <p:nvSpPr>
          <p:cNvPr id="4" name="Shape 2"/>
          <p:cNvSpPr/>
          <p:nvPr/>
        </p:nvSpPr>
        <p:spPr>
          <a:xfrm>
            <a:off x="822960" y="2011680"/>
            <a:ext cx="3749040" cy="4023360"/>
          </a:xfrm>
          <a:prstGeom prst="roundRect">
            <a:avLst>
              <a:gd name="adj" fmla="val 2927"/>
            </a:avLst>
          </a:prstGeom>
          <a:solidFill>
            <a:srgbClr val="16202E"/>
          </a:solidFill>
          <a:ln/>
        </p:spPr>
      </p:sp>
      <p:sp>
        <p:nvSpPr>
          <p:cNvPr id="5" name="Shape 3"/>
          <p:cNvSpPr/>
          <p:nvPr/>
        </p:nvSpPr>
        <p:spPr>
          <a:xfrm>
            <a:off x="2148840" y="2468880"/>
            <a:ext cx="1097280" cy="1097280"/>
          </a:xfrm>
          <a:prstGeom prst="ellipse">
            <a:avLst/>
          </a:prstGeom>
          <a:solidFill>
            <a:srgbClr val="F5A623"/>
          </a:solidFill>
          <a:ln/>
        </p:spPr>
      </p:sp>
      <p:sp>
        <p:nvSpPr>
          <p:cNvPr id="6" name="Text 4"/>
          <p:cNvSpPr/>
          <p:nvPr/>
        </p:nvSpPr>
        <p:spPr>
          <a:xfrm>
            <a:off x="2148840" y="2468880"/>
            <a:ext cx="1097280" cy="1097280"/>
          </a:xfrm>
          <a:prstGeom prst="rect">
            <a:avLst/>
          </a:prstGeom>
          <a:noFill/>
          <a:ln/>
        </p:spPr>
        <p:txBody>
          <a:bodyPr wrap="square" lIns="0" tIns="0" rIns="0" bIns="0" rtlCol="0" anchor="ctr"/>
          <a:lstStyle/>
          <a:p>
            <a:pPr algn="ctr" indent="0" marL="0">
              <a:buNone/>
            </a:pPr>
            <a:r>
              <a:rPr lang="en-US" sz="2600" b="1" dirty="0">
                <a:solidFill>
                  <a:srgbClr val="16202E"/>
                </a:solidFill>
                <a:latin typeface="Cambria" pitchFamily="34" charset="0"/>
                <a:ea typeface="Cambria" pitchFamily="34" charset="-122"/>
                <a:cs typeface="Cambria" pitchFamily="34" charset="-120"/>
              </a:rPr>
              <a:t>MD</a:t>
            </a:r>
            <a:endParaRPr lang="en-US" sz="2600" dirty="0"/>
          </a:p>
        </p:txBody>
      </p:sp>
      <p:sp>
        <p:nvSpPr>
          <p:cNvPr id="7" name="Text 5"/>
          <p:cNvSpPr/>
          <p:nvPr/>
        </p:nvSpPr>
        <p:spPr>
          <a:xfrm>
            <a:off x="1005840" y="3703320"/>
            <a:ext cx="33832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Factory Owner / MD</a:t>
            </a:r>
            <a:endParaRPr lang="en-US" sz="2000" dirty="0"/>
          </a:p>
        </p:txBody>
      </p:sp>
      <p:sp>
        <p:nvSpPr>
          <p:cNvPr id="8" name="Text 6"/>
          <p:cNvSpPr/>
          <p:nvPr/>
        </p:nvSpPr>
        <p:spPr>
          <a:xfrm>
            <a:off x="1005840" y="4206240"/>
            <a:ext cx="3383280" cy="1280160"/>
          </a:xfrm>
          <a:prstGeom prst="rect">
            <a:avLst/>
          </a:prstGeom>
          <a:noFill/>
          <a:ln/>
        </p:spPr>
        <p:txBody>
          <a:bodyPr wrap="square" lIns="0" tIns="0" rIns="0" bIns="0" rtlCol="0" anchor="ctr"/>
          <a:lstStyle/>
          <a:p>
            <a:pPr algn="ctr" indent="0" marL="0">
              <a:buNone/>
            </a:pPr>
            <a:r>
              <a:rPr lang="en-US" sz="1500" i="1" dirty="0">
                <a:solidFill>
                  <a:srgbClr val="C7D2DE"/>
                </a:solidFill>
                <a:latin typeface="Calibri" pitchFamily="34" charset="0"/>
                <a:ea typeface="Calibri" pitchFamily="34" charset="-122"/>
                <a:cs typeface="Calibri" pitchFamily="34" charset="-120"/>
              </a:rPr>
              <a:t>Pays for the downtime — sees it last.</a:t>
            </a:r>
            <a:endParaRPr lang="en-US" sz="1500" dirty="0"/>
          </a:p>
        </p:txBody>
      </p:sp>
      <p:sp>
        <p:nvSpPr>
          <p:cNvPr id="9" name="Shape 7"/>
          <p:cNvSpPr/>
          <p:nvPr/>
        </p:nvSpPr>
        <p:spPr>
          <a:xfrm>
            <a:off x="4892040" y="2057400"/>
            <a:ext cx="6446520" cy="1170432"/>
          </a:xfrm>
          <a:prstGeom prst="roundRect">
            <a:avLst>
              <a:gd name="adj" fmla="val 7813"/>
            </a:avLst>
          </a:prstGeom>
          <a:solidFill>
            <a:srgbClr val="FFFFFF"/>
          </a:solidFill>
          <a:ln w="12700">
            <a:solidFill>
              <a:srgbClr val="DDE3EA"/>
            </a:solidFill>
            <a:prstDash val="solid"/>
          </a:ln>
        </p:spPr>
      </p:sp>
      <p:sp>
        <p:nvSpPr>
          <p:cNvPr id="10" name="Shape 8"/>
          <p:cNvSpPr/>
          <p:nvPr/>
        </p:nvSpPr>
        <p:spPr>
          <a:xfrm>
            <a:off x="5120640" y="2368296"/>
            <a:ext cx="548640" cy="548640"/>
          </a:xfrm>
          <a:prstGeom prst="ellipse">
            <a:avLst/>
          </a:prstGeom>
          <a:solidFill>
            <a:srgbClr val="F5A623"/>
          </a:solidFill>
          <a:ln/>
        </p:spPr>
      </p:sp>
      <p:sp>
        <p:nvSpPr>
          <p:cNvPr id="11" name="Text 9"/>
          <p:cNvSpPr/>
          <p:nvPr/>
        </p:nvSpPr>
        <p:spPr>
          <a:xfrm>
            <a:off x="5120640" y="2368296"/>
            <a:ext cx="548640" cy="548640"/>
          </a:xfrm>
          <a:prstGeom prst="rect">
            <a:avLst/>
          </a:prstGeom>
          <a:noFill/>
          <a:ln/>
        </p:spPr>
        <p:txBody>
          <a:bodyPr wrap="square" lIns="0" tIns="0" rIns="0" bIns="0" rtlCol="0" anchor="ctr"/>
          <a:lstStyle/>
          <a:p>
            <a:pPr algn="ctr" indent="0" marL="0">
              <a:buNone/>
            </a:pPr>
            <a:r>
              <a:rPr lang="en-US" sz="2000" b="1" dirty="0">
                <a:solidFill>
                  <a:srgbClr val="16202E"/>
                </a:solidFill>
                <a:latin typeface="Cambria" pitchFamily="34" charset="0"/>
                <a:ea typeface="Cambria" pitchFamily="34" charset="-122"/>
                <a:cs typeface="Cambria" pitchFamily="34" charset="-120"/>
              </a:rPr>
              <a:t>1</a:t>
            </a:r>
            <a:endParaRPr lang="en-US" sz="2000" dirty="0"/>
          </a:p>
        </p:txBody>
      </p:sp>
      <p:sp>
        <p:nvSpPr>
          <p:cNvPr id="12" name="Text 10"/>
          <p:cNvSpPr/>
          <p:nvPr/>
        </p:nvSpPr>
        <p:spPr>
          <a:xfrm>
            <a:off x="5897880" y="2221992"/>
            <a:ext cx="5212080" cy="411480"/>
          </a:xfrm>
          <a:prstGeom prst="rect">
            <a:avLst/>
          </a:prstGeom>
          <a:noFill/>
          <a:ln/>
        </p:spPr>
        <p:txBody>
          <a:bodyPr wrap="square" lIns="0" tIns="0" rIns="0" bIns="0" rtlCol="0" anchor="ctr"/>
          <a:lstStyle/>
          <a:p>
            <a:pPr indent="0" marL="0">
              <a:buNone/>
            </a:pPr>
            <a:r>
              <a:rPr lang="en-US" sz="1800" b="1" dirty="0">
                <a:solidFill>
                  <a:srgbClr val="16202E"/>
                </a:solidFill>
                <a:latin typeface="Cambria" pitchFamily="34" charset="0"/>
                <a:ea typeface="Cambria" pitchFamily="34" charset="-122"/>
                <a:cs typeface="Cambria" pitchFamily="34" charset="-120"/>
              </a:rPr>
              <a:t>Blind to downtime</a:t>
            </a:r>
            <a:endParaRPr lang="en-US" sz="1800" dirty="0"/>
          </a:p>
        </p:txBody>
      </p:sp>
      <p:sp>
        <p:nvSpPr>
          <p:cNvPr id="13" name="Text 11"/>
          <p:cNvSpPr/>
          <p:nvPr/>
        </p:nvSpPr>
        <p:spPr>
          <a:xfrm>
            <a:off x="5897880" y="2624328"/>
            <a:ext cx="5303520" cy="502920"/>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Doesn't know a machine was down until the shift is already over.</a:t>
            </a:r>
            <a:endParaRPr lang="en-US" sz="1400" dirty="0"/>
          </a:p>
        </p:txBody>
      </p:sp>
      <p:sp>
        <p:nvSpPr>
          <p:cNvPr id="14" name="Shape 12"/>
          <p:cNvSpPr/>
          <p:nvPr/>
        </p:nvSpPr>
        <p:spPr>
          <a:xfrm>
            <a:off x="4892040" y="3392424"/>
            <a:ext cx="6446520" cy="1170432"/>
          </a:xfrm>
          <a:prstGeom prst="roundRect">
            <a:avLst>
              <a:gd name="adj" fmla="val 7813"/>
            </a:avLst>
          </a:prstGeom>
          <a:solidFill>
            <a:srgbClr val="FFFFFF"/>
          </a:solidFill>
          <a:ln w="12700">
            <a:solidFill>
              <a:srgbClr val="DDE3EA"/>
            </a:solidFill>
            <a:prstDash val="solid"/>
          </a:ln>
        </p:spPr>
      </p:sp>
      <p:sp>
        <p:nvSpPr>
          <p:cNvPr id="15" name="Shape 13"/>
          <p:cNvSpPr/>
          <p:nvPr/>
        </p:nvSpPr>
        <p:spPr>
          <a:xfrm>
            <a:off x="5120640" y="3703320"/>
            <a:ext cx="548640" cy="548640"/>
          </a:xfrm>
          <a:prstGeom prst="ellipse">
            <a:avLst/>
          </a:prstGeom>
          <a:solidFill>
            <a:srgbClr val="F5A623"/>
          </a:solidFill>
          <a:ln/>
        </p:spPr>
      </p:sp>
      <p:sp>
        <p:nvSpPr>
          <p:cNvPr id="16" name="Text 14"/>
          <p:cNvSpPr/>
          <p:nvPr/>
        </p:nvSpPr>
        <p:spPr>
          <a:xfrm>
            <a:off x="5120640" y="3703320"/>
            <a:ext cx="548640" cy="548640"/>
          </a:xfrm>
          <a:prstGeom prst="rect">
            <a:avLst/>
          </a:prstGeom>
          <a:noFill/>
          <a:ln/>
        </p:spPr>
        <p:txBody>
          <a:bodyPr wrap="square" lIns="0" tIns="0" rIns="0" bIns="0" rtlCol="0" anchor="ctr"/>
          <a:lstStyle/>
          <a:p>
            <a:pPr algn="ctr" indent="0" marL="0">
              <a:buNone/>
            </a:pPr>
            <a:r>
              <a:rPr lang="en-US" sz="2000" b="1" dirty="0">
                <a:solidFill>
                  <a:srgbClr val="16202E"/>
                </a:solidFill>
                <a:latin typeface="Cambria" pitchFamily="34" charset="0"/>
                <a:ea typeface="Cambria" pitchFamily="34" charset="-122"/>
                <a:cs typeface="Cambria" pitchFamily="34" charset="-120"/>
              </a:rPr>
              <a:t>2</a:t>
            </a:r>
            <a:endParaRPr lang="en-US" sz="2000" dirty="0"/>
          </a:p>
        </p:txBody>
      </p:sp>
      <p:sp>
        <p:nvSpPr>
          <p:cNvPr id="17" name="Text 15"/>
          <p:cNvSpPr/>
          <p:nvPr/>
        </p:nvSpPr>
        <p:spPr>
          <a:xfrm>
            <a:off x="5897880" y="3557016"/>
            <a:ext cx="5212080" cy="411480"/>
          </a:xfrm>
          <a:prstGeom prst="rect">
            <a:avLst/>
          </a:prstGeom>
          <a:noFill/>
          <a:ln/>
        </p:spPr>
        <p:txBody>
          <a:bodyPr wrap="square" lIns="0" tIns="0" rIns="0" bIns="0" rtlCol="0" anchor="ctr"/>
          <a:lstStyle/>
          <a:p>
            <a:pPr indent="0" marL="0">
              <a:buNone/>
            </a:pPr>
            <a:r>
              <a:rPr lang="en-US" sz="1800" b="1" dirty="0">
                <a:solidFill>
                  <a:srgbClr val="16202E"/>
                </a:solidFill>
                <a:latin typeface="Cambria" pitchFamily="34" charset="0"/>
                <a:ea typeface="Cambria" pitchFamily="34" charset="-122"/>
                <a:cs typeface="Cambria" pitchFamily="34" charset="-120"/>
              </a:rPr>
              <a:t>No pattern, no accountability</a:t>
            </a:r>
            <a:endParaRPr lang="en-US" sz="1800" dirty="0"/>
          </a:p>
        </p:txBody>
      </p:sp>
      <p:sp>
        <p:nvSpPr>
          <p:cNvPr id="18" name="Text 16"/>
          <p:cNvSpPr/>
          <p:nvPr/>
        </p:nvSpPr>
        <p:spPr>
          <a:xfrm>
            <a:off x="5897880" y="3959352"/>
            <a:ext cx="5303520" cy="502920"/>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Can't tell which machine or technician is the recurring problem.</a:t>
            </a:r>
            <a:endParaRPr lang="en-US" sz="1400" dirty="0"/>
          </a:p>
        </p:txBody>
      </p:sp>
      <p:sp>
        <p:nvSpPr>
          <p:cNvPr id="19" name="Shape 17"/>
          <p:cNvSpPr/>
          <p:nvPr/>
        </p:nvSpPr>
        <p:spPr>
          <a:xfrm>
            <a:off x="4892040" y="4727448"/>
            <a:ext cx="6446520" cy="1170432"/>
          </a:xfrm>
          <a:prstGeom prst="roundRect">
            <a:avLst>
              <a:gd name="adj" fmla="val 7813"/>
            </a:avLst>
          </a:prstGeom>
          <a:solidFill>
            <a:srgbClr val="FFFFFF"/>
          </a:solidFill>
          <a:ln w="12700">
            <a:solidFill>
              <a:srgbClr val="DDE3EA"/>
            </a:solidFill>
            <a:prstDash val="solid"/>
          </a:ln>
        </p:spPr>
      </p:sp>
      <p:sp>
        <p:nvSpPr>
          <p:cNvPr id="20" name="Shape 18"/>
          <p:cNvSpPr/>
          <p:nvPr/>
        </p:nvSpPr>
        <p:spPr>
          <a:xfrm>
            <a:off x="5120640" y="5038344"/>
            <a:ext cx="548640" cy="548640"/>
          </a:xfrm>
          <a:prstGeom prst="ellipse">
            <a:avLst/>
          </a:prstGeom>
          <a:solidFill>
            <a:srgbClr val="F5A623"/>
          </a:solidFill>
          <a:ln/>
        </p:spPr>
      </p:sp>
      <p:sp>
        <p:nvSpPr>
          <p:cNvPr id="21" name="Text 19"/>
          <p:cNvSpPr/>
          <p:nvPr/>
        </p:nvSpPr>
        <p:spPr>
          <a:xfrm>
            <a:off x="5120640" y="5038344"/>
            <a:ext cx="548640" cy="548640"/>
          </a:xfrm>
          <a:prstGeom prst="rect">
            <a:avLst/>
          </a:prstGeom>
          <a:noFill/>
          <a:ln/>
        </p:spPr>
        <p:txBody>
          <a:bodyPr wrap="square" lIns="0" tIns="0" rIns="0" bIns="0" rtlCol="0" anchor="ctr"/>
          <a:lstStyle/>
          <a:p>
            <a:pPr algn="ctr" indent="0" marL="0">
              <a:buNone/>
            </a:pPr>
            <a:r>
              <a:rPr lang="en-US" sz="2000" b="1" dirty="0">
                <a:solidFill>
                  <a:srgbClr val="16202E"/>
                </a:solidFill>
                <a:latin typeface="Cambria" pitchFamily="34" charset="0"/>
                <a:ea typeface="Cambria" pitchFamily="34" charset="-122"/>
                <a:cs typeface="Cambria" pitchFamily="34" charset="-120"/>
              </a:rPr>
              <a:t>3</a:t>
            </a:r>
            <a:endParaRPr lang="en-US" sz="2000" dirty="0"/>
          </a:p>
        </p:txBody>
      </p:sp>
      <p:sp>
        <p:nvSpPr>
          <p:cNvPr id="22" name="Text 20"/>
          <p:cNvSpPr/>
          <p:nvPr/>
        </p:nvSpPr>
        <p:spPr>
          <a:xfrm>
            <a:off x="5897880" y="4892040"/>
            <a:ext cx="5212080" cy="411480"/>
          </a:xfrm>
          <a:prstGeom prst="rect">
            <a:avLst/>
          </a:prstGeom>
          <a:noFill/>
          <a:ln/>
        </p:spPr>
        <p:txBody>
          <a:bodyPr wrap="square" lIns="0" tIns="0" rIns="0" bIns="0" rtlCol="0" anchor="ctr"/>
          <a:lstStyle/>
          <a:p>
            <a:pPr indent="0" marL="0">
              <a:buNone/>
            </a:pPr>
            <a:r>
              <a:rPr lang="en-US" sz="1800" b="1" dirty="0">
                <a:solidFill>
                  <a:srgbClr val="16202E"/>
                </a:solidFill>
                <a:latin typeface="Cambria" pitchFamily="34" charset="0"/>
                <a:ea typeface="Cambria" pitchFamily="34" charset="-122"/>
                <a:cs typeface="Cambria" pitchFamily="34" charset="-120"/>
              </a:rPr>
              <a:t>Always finds out too late</a:t>
            </a:r>
            <a:endParaRPr lang="en-US" sz="1800" dirty="0"/>
          </a:p>
        </p:txBody>
      </p:sp>
      <p:sp>
        <p:nvSpPr>
          <p:cNvPr id="23" name="Text 21"/>
          <p:cNvSpPr/>
          <p:nvPr/>
        </p:nvSpPr>
        <p:spPr>
          <a:xfrm>
            <a:off x="5897880" y="5294376"/>
            <a:ext cx="5303520" cy="502920"/>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Learns of a breakdown after it has already cost production.</a:t>
            </a:r>
            <a:endParaRPr lang="en-US" sz="1400" dirty="0"/>
          </a:p>
        </p:txBody>
      </p:sp>
      <p:sp>
        <p:nvSpPr>
          <p:cNvPr id="24" name="Text 22"/>
          <p:cNvSpPr/>
          <p:nvPr/>
        </p:nvSpPr>
        <p:spPr>
          <a:xfrm>
            <a:off x="822960" y="6263640"/>
            <a:ext cx="10515600" cy="411480"/>
          </a:xfrm>
          <a:prstGeom prst="rect">
            <a:avLst/>
          </a:prstGeom>
          <a:noFill/>
          <a:ln/>
        </p:spPr>
        <p:txBody>
          <a:bodyPr wrap="square" lIns="0" tIns="0" rIns="0" bIns="0" rtlCol="0" anchor="ctr"/>
          <a:lstStyle/>
          <a:p>
            <a:pPr indent="0" marL="0">
              <a:buNone/>
            </a:pPr>
            <a:r>
              <a:rPr lang="en-US" sz="1500" b="1" i="1" dirty="0">
                <a:solidFill>
                  <a:srgbClr val="C97E12"/>
                </a:solidFill>
                <a:latin typeface="Calibri" pitchFamily="34" charset="0"/>
                <a:ea typeface="Calibri" pitchFamily="34" charset="-122"/>
                <a:cs typeface="Calibri" pitchFamily="34" charset="-120"/>
              </a:rPr>
              <a:t>Question for you: is the owner really in pain here — or has he made peace with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ROOT CAUSE, NOT SYMPTOM</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4000" b="1" dirty="0">
                <a:solidFill>
                  <a:srgbClr val="16202E"/>
                </a:solidFill>
                <a:latin typeface="Cambria" pitchFamily="34" charset="0"/>
                <a:ea typeface="Cambria" pitchFamily="34" charset="-122"/>
                <a:cs typeface="Cambria" pitchFamily="34" charset="-120"/>
              </a:rPr>
              <a:t>Why the gap exists</a:t>
            </a:r>
            <a:endParaRPr lang="en-US" sz="4000" dirty="0"/>
          </a:p>
        </p:txBody>
      </p:sp>
      <p:sp>
        <p:nvSpPr>
          <p:cNvPr id="4" name="Shape 2"/>
          <p:cNvSpPr/>
          <p:nvPr/>
        </p:nvSpPr>
        <p:spPr>
          <a:xfrm>
            <a:off x="822960" y="2057400"/>
            <a:ext cx="3383280" cy="3840480"/>
          </a:xfrm>
          <a:prstGeom prst="roundRect">
            <a:avLst>
              <a:gd name="adj" fmla="val 3243"/>
            </a:avLst>
          </a:prstGeom>
          <a:solidFill>
            <a:srgbClr val="F3F5F8"/>
          </a:solidFill>
          <a:ln/>
        </p:spPr>
      </p:sp>
      <p:sp>
        <p:nvSpPr>
          <p:cNvPr id="5" name="Shape 3"/>
          <p:cNvSpPr/>
          <p:nvPr/>
        </p:nvSpPr>
        <p:spPr>
          <a:xfrm>
            <a:off x="1188720" y="2468880"/>
            <a:ext cx="640080" cy="640080"/>
          </a:xfrm>
          <a:prstGeom prst="ellipse">
            <a:avLst/>
          </a:prstGeom>
          <a:solidFill>
            <a:srgbClr val="F5A623"/>
          </a:solidFill>
          <a:ln/>
        </p:spPr>
      </p:sp>
      <p:sp>
        <p:nvSpPr>
          <p:cNvPr id="6" name="Text 4"/>
          <p:cNvSpPr/>
          <p:nvPr/>
        </p:nvSpPr>
        <p:spPr>
          <a:xfrm>
            <a:off x="1188720" y="2468880"/>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188720" y="3337560"/>
            <a:ext cx="2651760" cy="548640"/>
          </a:xfrm>
          <a:prstGeom prst="rect">
            <a:avLst/>
          </a:prstGeom>
          <a:noFill/>
          <a:ln/>
        </p:spPr>
        <p:txBody>
          <a:bodyPr wrap="square" lIns="0" tIns="0" rIns="0" bIns="0" rtlCol="0" anchor="ctr"/>
          <a:lstStyle/>
          <a:p>
            <a:pPr indent="0" marL="0">
              <a:buNone/>
            </a:pPr>
            <a:r>
              <a:rPr lang="en-US" sz="2400" b="1" dirty="0">
                <a:solidFill>
                  <a:srgbClr val="16202E"/>
                </a:solidFill>
                <a:latin typeface="Cambria" pitchFamily="34" charset="0"/>
                <a:ea typeface="Cambria" pitchFamily="34" charset="-122"/>
                <a:cs typeface="Cambria" pitchFamily="34" charset="-120"/>
              </a:rPr>
              <a:t>Friction</a:t>
            </a:r>
            <a:endParaRPr lang="en-US" sz="2400" dirty="0"/>
          </a:p>
        </p:txBody>
      </p:sp>
      <p:sp>
        <p:nvSpPr>
          <p:cNvPr id="8" name="Text 6"/>
          <p:cNvSpPr/>
          <p:nvPr/>
        </p:nvSpPr>
        <p:spPr>
          <a:xfrm>
            <a:off x="1188720" y="3977640"/>
            <a:ext cx="2651760" cy="1737360"/>
          </a:xfrm>
          <a:prstGeom prst="rect">
            <a:avLst/>
          </a:prstGeom>
          <a:noFill/>
          <a:ln/>
        </p:spPr>
        <p:txBody>
          <a:bodyPr wrap="square" lIns="0" tIns="0" rIns="0" bIns="0" rtlCol="0" anchor="ctr"/>
          <a:lstStyle/>
          <a:p>
            <a:pPr indent="0" marL="0">
              <a:lnSpc>
                <a:spcPct val="115000"/>
              </a:lnSpc>
              <a:buNone/>
            </a:pPr>
            <a:r>
              <a:rPr lang="en-US" sz="1550" dirty="0">
                <a:solidFill>
                  <a:srgbClr val="3A4A5E"/>
                </a:solidFill>
                <a:latin typeface="Calibri" pitchFamily="34" charset="0"/>
                <a:ea typeface="Calibri" pitchFamily="34" charset="-122"/>
                <a:cs typeface="Calibri" pitchFamily="34" charset="-120"/>
              </a:rPr>
              <a:t>Reporting a breakdown means finding the right person and explaining it in words. Nobody bothers.</a:t>
            </a:r>
            <a:endParaRPr lang="en-US" sz="1550" dirty="0"/>
          </a:p>
        </p:txBody>
      </p:sp>
      <p:sp>
        <p:nvSpPr>
          <p:cNvPr id="9" name="Shape 7"/>
          <p:cNvSpPr/>
          <p:nvPr/>
        </p:nvSpPr>
        <p:spPr>
          <a:xfrm>
            <a:off x="4526280" y="2057400"/>
            <a:ext cx="3383280" cy="3840480"/>
          </a:xfrm>
          <a:prstGeom prst="roundRect">
            <a:avLst>
              <a:gd name="adj" fmla="val 3243"/>
            </a:avLst>
          </a:prstGeom>
          <a:solidFill>
            <a:srgbClr val="F3F5F8"/>
          </a:solidFill>
          <a:ln/>
        </p:spPr>
      </p:sp>
      <p:sp>
        <p:nvSpPr>
          <p:cNvPr id="10" name="Shape 8"/>
          <p:cNvSpPr/>
          <p:nvPr/>
        </p:nvSpPr>
        <p:spPr>
          <a:xfrm>
            <a:off x="4892040" y="2468880"/>
            <a:ext cx="640080" cy="640080"/>
          </a:xfrm>
          <a:prstGeom prst="ellipse">
            <a:avLst/>
          </a:prstGeom>
          <a:solidFill>
            <a:srgbClr val="F5A623"/>
          </a:solidFill>
          <a:ln/>
        </p:spPr>
      </p:sp>
      <p:sp>
        <p:nvSpPr>
          <p:cNvPr id="11" name="Text 9"/>
          <p:cNvSpPr/>
          <p:nvPr/>
        </p:nvSpPr>
        <p:spPr>
          <a:xfrm>
            <a:off x="4892040" y="2468880"/>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4892040" y="3337560"/>
            <a:ext cx="2651760" cy="548640"/>
          </a:xfrm>
          <a:prstGeom prst="rect">
            <a:avLst/>
          </a:prstGeom>
          <a:noFill/>
          <a:ln/>
        </p:spPr>
        <p:txBody>
          <a:bodyPr wrap="square" lIns="0" tIns="0" rIns="0" bIns="0" rtlCol="0" anchor="ctr"/>
          <a:lstStyle/>
          <a:p>
            <a:pPr indent="0" marL="0">
              <a:buNone/>
            </a:pPr>
            <a:r>
              <a:rPr lang="en-US" sz="2400" b="1" dirty="0">
                <a:solidFill>
                  <a:srgbClr val="16202E"/>
                </a:solidFill>
                <a:latin typeface="Cambria" pitchFamily="34" charset="0"/>
                <a:ea typeface="Cambria" pitchFamily="34" charset="-122"/>
                <a:cs typeface="Cambria" pitchFamily="34" charset="-120"/>
              </a:rPr>
              <a:t>Literacy</a:t>
            </a:r>
            <a:endParaRPr lang="en-US" sz="2400" dirty="0"/>
          </a:p>
        </p:txBody>
      </p:sp>
      <p:sp>
        <p:nvSpPr>
          <p:cNvPr id="13" name="Text 11"/>
          <p:cNvSpPr/>
          <p:nvPr/>
        </p:nvSpPr>
        <p:spPr>
          <a:xfrm>
            <a:off x="4892040" y="3977640"/>
            <a:ext cx="2651760" cy="1737360"/>
          </a:xfrm>
          <a:prstGeom prst="rect">
            <a:avLst/>
          </a:prstGeom>
          <a:noFill/>
          <a:ln/>
        </p:spPr>
        <p:txBody>
          <a:bodyPr wrap="square" lIns="0" tIns="0" rIns="0" bIns="0" rtlCol="0" anchor="ctr"/>
          <a:lstStyle/>
          <a:p>
            <a:pPr indent="0" marL="0">
              <a:lnSpc>
                <a:spcPct val="115000"/>
              </a:lnSpc>
              <a:buNone/>
            </a:pPr>
            <a:r>
              <a:rPr lang="en-US" sz="1550" dirty="0">
                <a:solidFill>
                  <a:srgbClr val="3A4A5E"/>
                </a:solidFill>
                <a:latin typeface="Calibri" pitchFamily="34" charset="0"/>
                <a:ea typeface="Calibri" pitchFamily="34" charset="-122"/>
                <a:cs typeface="Calibri" pitchFamily="34" charset="-120"/>
              </a:rPr>
              <a:t>Workers are semi-literate. Typing a structured ticket into an app is simply unrealistic.</a:t>
            </a:r>
            <a:endParaRPr lang="en-US" sz="1550" dirty="0"/>
          </a:p>
        </p:txBody>
      </p:sp>
      <p:sp>
        <p:nvSpPr>
          <p:cNvPr id="14" name="Shape 12"/>
          <p:cNvSpPr/>
          <p:nvPr/>
        </p:nvSpPr>
        <p:spPr>
          <a:xfrm>
            <a:off x="8229600" y="2057400"/>
            <a:ext cx="3383280" cy="3840480"/>
          </a:xfrm>
          <a:prstGeom prst="roundRect">
            <a:avLst>
              <a:gd name="adj" fmla="val 3243"/>
            </a:avLst>
          </a:prstGeom>
          <a:solidFill>
            <a:srgbClr val="F3F5F8"/>
          </a:solidFill>
          <a:ln/>
        </p:spPr>
      </p:sp>
      <p:sp>
        <p:nvSpPr>
          <p:cNvPr id="15" name="Shape 13"/>
          <p:cNvSpPr/>
          <p:nvPr/>
        </p:nvSpPr>
        <p:spPr>
          <a:xfrm>
            <a:off x="8595360" y="2468880"/>
            <a:ext cx="640080" cy="640080"/>
          </a:xfrm>
          <a:prstGeom prst="ellipse">
            <a:avLst/>
          </a:prstGeom>
          <a:solidFill>
            <a:srgbClr val="F5A623"/>
          </a:solidFill>
          <a:ln/>
        </p:spPr>
      </p:sp>
      <p:sp>
        <p:nvSpPr>
          <p:cNvPr id="16" name="Text 14"/>
          <p:cNvSpPr/>
          <p:nvPr/>
        </p:nvSpPr>
        <p:spPr>
          <a:xfrm>
            <a:off x="8595360" y="2468880"/>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8595360" y="3337560"/>
            <a:ext cx="2651760" cy="548640"/>
          </a:xfrm>
          <a:prstGeom prst="rect">
            <a:avLst/>
          </a:prstGeom>
          <a:noFill/>
          <a:ln/>
        </p:spPr>
        <p:txBody>
          <a:bodyPr wrap="square" lIns="0" tIns="0" rIns="0" bIns="0" rtlCol="0" anchor="ctr"/>
          <a:lstStyle/>
          <a:p>
            <a:pPr indent="0" marL="0">
              <a:buNone/>
            </a:pPr>
            <a:r>
              <a:rPr lang="en-US" sz="2400" b="1" dirty="0">
                <a:solidFill>
                  <a:srgbClr val="16202E"/>
                </a:solidFill>
                <a:latin typeface="Cambria" pitchFamily="34" charset="0"/>
                <a:ea typeface="Cambria" pitchFamily="34" charset="-122"/>
                <a:cs typeface="Cambria" pitchFamily="34" charset="-120"/>
              </a:rPr>
              <a:t>Wrong tools</a:t>
            </a:r>
            <a:endParaRPr lang="en-US" sz="2400" dirty="0"/>
          </a:p>
        </p:txBody>
      </p:sp>
      <p:sp>
        <p:nvSpPr>
          <p:cNvPr id="18" name="Text 16"/>
          <p:cNvSpPr/>
          <p:nvPr/>
        </p:nvSpPr>
        <p:spPr>
          <a:xfrm>
            <a:off x="8595360" y="3977640"/>
            <a:ext cx="2651760" cy="1737360"/>
          </a:xfrm>
          <a:prstGeom prst="rect">
            <a:avLst/>
          </a:prstGeom>
          <a:noFill/>
          <a:ln/>
        </p:spPr>
        <p:txBody>
          <a:bodyPr wrap="square" lIns="0" tIns="0" rIns="0" bIns="0" rtlCol="0" anchor="ctr"/>
          <a:lstStyle/>
          <a:p>
            <a:pPr indent="0" marL="0">
              <a:lnSpc>
                <a:spcPct val="115000"/>
              </a:lnSpc>
              <a:buNone/>
            </a:pPr>
            <a:r>
              <a:rPr lang="en-US" sz="1550" dirty="0">
                <a:solidFill>
                  <a:srgbClr val="3A4A5E"/>
                </a:solidFill>
                <a:latin typeface="Calibri" pitchFamily="34" charset="0"/>
                <a:ea typeface="Calibri" pitchFamily="34" charset="-122"/>
                <a:cs typeface="Calibri" pitchFamily="34" charset="-120"/>
              </a:rPr>
              <a:t>CMMS / ERP software is built for enterprises — not a 20–200 person factory.</a:t>
            </a:r>
            <a:endParaRPr lang="en-US" sz="1550" dirty="0"/>
          </a:p>
        </p:txBody>
      </p:sp>
      <p:sp>
        <p:nvSpPr>
          <p:cNvPr id="19" name="Text 17"/>
          <p:cNvSpPr/>
          <p:nvPr/>
        </p:nvSpPr>
        <p:spPr>
          <a:xfrm>
            <a:off x="822960" y="6172200"/>
            <a:ext cx="10515600" cy="457200"/>
          </a:xfrm>
          <a:prstGeom prst="rect">
            <a:avLst/>
          </a:prstGeom>
          <a:noFill/>
          <a:ln/>
        </p:spPr>
        <p:txBody>
          <a:bodyPr wrap="square" lIns="0" tIns="0" rIns="0" bIns="0" rtlCol="0" anchor="ctr"/>
          <a:lstStyle/>
          <a:p>
            <a:pPr indent="0" marL="0">
              <a:buNone/>
            </a:pPr>
            <a:r>
              <a:rPr lang="en-US" sz="1500" b="1" i="1" dirty="0">
                <a:solidFill>
                  <a:srgbClr val="C97E12"/>
                </a:solidFill>
                <a:latin typeface="Calibri" pitchFamily="34" charset="0"/>
                <a:ea typeface="Calibri" pitchFamily="34" charset="-122"/>
                <a:cs typeface="Calibri" pitchFamily="34" charset="-120"/>
              </a:rPr>
              <a:t>It's not laziness — it's friction. Is that the real reason, or is it cost, trust, or owner apathy?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MY EVIDENCE — AND MY HONEST GAPS</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16202E"/>
                </a:solidFill>
                <a:latin typeface="Cambria" pitchFamily="34" charset="0"/>
                <a:ea typeface="Cambria" pitchFamily="34" charset="-122"/>
                <a:cs typeface="Cambria" pitchFamily="34" charset="-120"/>
              </a:rPr>
              <a:t>What I know vs. what I'm guessing</a:t>
            </a:r>
            <a:endParaRPr lang="en-US" sz="3600" dirty="0"/>
          </a:p>
        </p:txBody>
      </p:sp>
      <p:sp>
        <p:nvSpPr>
          <p:cNvPr id="4" name="Shape 2"/>
          <p:cNvSpPr/>
          <p:nvPr/>
        </p:nvSpPr>
        <p:spPr>
          <a:xfrm>
            <a:off x="822960" y="2057400"/>
            <a:ext cx="5120640" cy="3749040"/>
          </a:xfrm>
          <a:prstGeom prst="roundRect">
            <a:avLst>
              <a:gd name="adj" fmla="val 2927"/>
            </a:avLst>
          </a:prstGeom>
          <a:solidFill>
            <a:srgbClr val="FFFFFF"/>
          </a:solidFill>
          <a:ln w="12700">
            <a:solidFill>
              <a:srgbClr val="DDE3EA"/>
            </a:solidFill>
            <a:prstDash val="solid"/>
          </a:ln>
        </p:spPr>
      </p:sp>
      <p:sp>
        <p:nvSpPr>
          <p:cNvPr id="5" name="Text 3"/>
          <p:cNvSpPr/>
          <p:nvPr/>
        </p:nvSpPr>
        <p:spPr>
          <a:xfrm>
            <a:off x="1143000" y="2331720"/>
            <a:ext cx="4572000" cy="457200"/>
          </a:xfrm>
          <a:prstGeom prst="rect">
            <a:avLst/>
          </a:prstGeom>
          <a:noFill/>
          <a:ln/>
        </p:spPr>
        <p:txBody>
          <a:bodyPr wrap="square" lIns="0" tIns="0" rIns="0" bIns="0" rtlCol="0" anchor="ctr"/>
          <a:lstStyle/>
          <a:p>
            <a:pPr indent="0" marL="0">
              <a:buNone/>
            </a:pPr>
            <a:r>
              <a:rPr lang="en-US" sz="2000" b="1" dirty="0">
                <a:solidFill>
                  <a:srgbClr val="2C7A4B"/>
                </a:solidFill>
                <a:latin typeface="Cambria" pitchFamily="34" charset="0"/>
                <a:ea typeface="Cambria" pitchFamily="34" charset="-122"/>
                <a:cs typeface="Cambria" pitchFamily="34" charset="-120"/>
              </a:rPr>
              <a:t>✓  What I've seen</a:t>
            </a:r>
            <a:endParaRPr lang="en-US" sz="2000" dirty="0"/>
          </a:p>
        </p:txBody>
      </p:sp>
      <p:sp>
        <p:nvSpPr>
          <p:cNvPr id="6" name="Text 4"/>
          <p:cNvSpPr/>
          <p:nvPr/>
        </p:nvSpPr>
        <p:spPr>
          <a:xfrm>
            <a:off x="1143000" y="2926080"/>
            <a:ext cx="4572000" cy="274320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3A4A5E"/>
                </a:solidFill>
                <a:latin typeface="Calibri" pitchFamily="34" charset="0"/>
                <a:ea typeface="Calibri" pitchFamily="34" charset="-122"/>
                <a:cs typeface="Calibri" pitchFamily="34" charset="-120"/>
              </a:rPr>
              <a:t>[ Insert your real factory visits / owner conversations ]</a:t>
            </a:r>
            <a:endParaRPr lang="en-US" sz="1550" dirty="0"/>
          </a:p>
          <a:p>
            <a:pPr marL="342900" indent="-342900">
              <a:spcAft>
                <a:spcPts val="1000"/>
              </a:spcAft>
              <a:buSzPct val="100000"/>
              <a:buChar char="•"/>
            </a:pPr>
            <a:r>
              <a:rPr lang="en-US" sz="1550" dirty="0">
                <a:solidFill>
                  <a:srgbClr val="3A4A5E"/>
                </a:solidFill>
                <a:latin typeface="Calibri" pitchFamily="34" charset="0"/>
                <a:ea typeface="Calibri" pitchFamily="34" charset="-122"/>
                <a:cs typeface="Calibri" pitchFamily="34" charset="-120"/>
              </a:rPr>
              <a:t>Pune MIDC belt — dense cluster of 20–200-worker units</a:t>
            </a:r>
            <a:endParaRPr lang="en-US" sz="1550" dirty="0"/>
          </a:p>
          <a:p>
            <a:pPr marL="342900" indent="-342900">
              <a:buSzPct val="100000"/>
              <a:buChar char="•"/>
            </a:pPr>
            <a:r>
              <a:rPr lang="en-US" sz="1550" dirty="0">
                <a:solidFill>
                  <a:srgbClr val="3A4A5E"/>
                </a:solidFill>
                <a:latin typeface="Calibri" pitchFamily="34" charset="0"/>
                <a:ea typeface="Calibri" pitchFamily="34" charset="-122"/>
                <a:cs typeface="Calibri" pitchFamily="34" charset="-120"/>
              </a:rPr>
              <a:t>Every worker already uses WhatsApp daily</a:t>
            </a:r>
            <a:endParaRPr lang="en-US" sz="1550" dirty="0"/>
          </a:p>
        </p:txBody>
      </p:sp>
      <p:sp>
        <p:nvSpPr>
          <p:cNvPr id="7" name="Shape 5"/>
          <p:cNvSpPr/>
          <p:nvPr/>
        </p:nvSpPr>
        <p:spPr>
          <a:xfrm>
            <a:off x="6217920" y="2057400"/>
            <a:ext cx="5120640" cy="3749040"/>
          </a:xfrm>
          <a:prstGeom prst="roundRect">
            <a:avLst>
              <a:gd name="adj" fmla="val 2927"/>
            </a:avLst>
          </a:prstGeom>
          <a:solidFill>
            <a:srgbClr val="16202E"/>
          </a:solidFill>
          <a:ln/>
        </p:spPr>
      </p:sp>
      <p:sp>
        <p:nvSpPr>
          <p:cNvPr id="8" name="Text 6"/>
          <p:cNvSpPr/>
          <p:nvPr/>
        </p:nvSpPr>
        <p:spPr>
          <a:xfrm>
            <a:off x="6537960" y="2331720"/>
            <a:ext cx="4572000" cy="457200"/>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  What I don't have yet</a:t>
            </a:r>
            <a:endParaRPr lang="en-US" sz="2000" dirty="0"/>
          </a:p>
        </p:txBody>
      </p:sp>
      <p:sp>
        <p:nvSpPr>
          <p:cNvPr id="9" name="Text 7"/>
          <p:cNvSpPr/>
          <p:nvPr/>
        </p:nvSpPr>
        <p:spPr>
          <a:xfrm>
            <a:off x="6537960" y="2926080"/>
            <a:ext cx="4572000" cy="274320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E6ECF3"/>
                </a:solidFill>
                <a:latin typeface="Calibri" pitchFamily="34" charset="0"/>
                <a:ea typeface="Calibri" pitchFamily="34" charset="-122"/>
                <a:cs typeface="Calibri" pitchFamily="34" charset="-120"/>
              </a:rPr>
              <a:t>A real owner saying “this cost me ₹X last month”</a:t>
            </a:r>
            <a:endParaRPr lang="en-US" sz="1550" dirty="0"/>
          </a:p>
          <a:p>
            <a:pPr marL="342900" indent="-342900">
              <a:spcAft>
                <a:spcPts val="1000"/>
              </a:spcAft>
              <a:buSzPct val="100000"/>
              <a:buChar char="•"/>
            </a:pPr>
            <a:r>
              <a:rPr lang="en-US" sz="1550" dirty="0">
                <a:solidFill>
                  <a:srgbClr val="E6ECF3"/>
                </a:solidFill>
                <a:latin typeface="Calibri" pitchFamily="34" charset="0"/>
                <a:ea typeface="Calibri" pitchFamily="34" charset="-122"/>
                <a:cs typeface="Calibri" pitchFamily="34" charset="-120"/>
              </a:rPr>
              <a:t>Measured downtime hours per machine</a:t>
            </a:r>
            <a:endParaRPr lang="en-US" sz="1550" dirty="0"/>
          </a:p>
          <a:p>
            <a:pPr marL="342900" indent="-342900">
              <a:buSzPct val="100000"/>
              <a:buChar char="•"/>
            </a:pPr>
            <a:r>
              <a:rPr lang="en-US" sz="1550" dirty="0">
                <a:solidFill>
                  <a:srgbClr val="E6ECF3"/>
                </a:solidFill>
                <a:latin typeface="Calibri" pitchFamily="34" charset="0"/>
                <a:ea typeface="Calibri" pitchFamily="34" charset="-122"/>
                <a:cs typeface="Calibri" pitchFamily="34" charset="-120"/>
              </a:rPr>
              <a:t>Proof owners will pay to fix this</a:t>
            </a:r>
            <a:endParaRPr lang="en-US" sz="1550" dirty="0"/>
          </a:p>
        </p:txBody>
      </p:sp>
      <p:sp>
        <p:nvSpPr>
          <p:cNvPr id="10" name="Text 8"/>
          <p:cNvSpPr/>
          <p:nvPr/>
        </p:nvSpPr>
        <p:spPr>
          <a:xfrm>
            <a:off x="822960" y="6126480"/>
            <a:ext cx="10515600" cy="457200"/>
          </a:xfrm>
          <a:prstGeom prst="rect">
            <a:avLst/>
          </a:prstGeom>
          <a:noFill/>
          <a:ln/>
        </p:spPr>
        <p:txBody>
          <a:bodyPr wrap="square" lIns="0" tIns="0" rIns="0" bIns="0" rtlCol="0" anchor="ctr"/>
          <a:lstStyle/>
          <a:p>
            <a:pPr indent="0" marL="0">
              <a:buNone/>
            </a:pPr>
            <a:r>
              <a:rPr lang="en-US" sz="1500" b="1" i="1" dirty="0">
                <a:solidFill>
                  <a:srgbClr val="C97E12"/>
                </a:solidFill>
                <a:latin typeface="Calibri" pitchFamily="34" charset="0"/>
                <a:ea typeface="Calibri" pitchFamily="34" charset="-122"/>
                <a:cs typeface="Calibri" pitchFamily="34" charset="-120"/>
              </a:rPr>
              <a:t>If you were me — what one piece of evidence would convince YOU the pain is real?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HOW BIG IS THE PAIN</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number nobody is measuring</a:t>
            </a:r>
            <a:endParaRPr lang="en-US" sz="3800" dirty="0"/>
          </a:p>
        </p:txBody>
      </p:sp>
      <p:sp>
        <p:nvSpPr>
          <p:cNvPr id="4" name="Shape 2"/>
          <p:cNvSpPr/>
          <p:nvPr/>
        </p:nvSpPr>
        <p:spPr>
          <a:xfrm>
            <a:off x="822960" y="2240280"/>
            <a:ext cx="3383280" cy="2834640"/>
          </a:xfrm>
          <a:prstGeom prst="roundRect">
            <a:avLst>
              <a:gd name="adj" fmla="val 3871"/>
            </a:avLst>
          </a:prstGeom>
          <a:solidFill>
            <a:srgbClr val="2C3E52"/>
          </a:solidFill>
          <a:ln/>
        </p:spPr>
      </p:sp>
      <p:sp>
        <p:nvSpPr>
          <p:cNvPr id="5" name="Text 3"/>
          <p:cNvSpPr/>
          <p:nvPr/>
        </p:nvSpPr>
        <p:spPr>
          <a:xfrm>
            <a:off x="1005840" y="2560320"/>
            <a:ext cx="3017520" cy="1188720"/>
          </a:xfrm>
          <a:prstGeom prst="rect">
            <a:avLst/>
          </a:prstGeom>
          <a:noFill/>
          <a:ln/>
        </p:spPr>
        <p:txBody>
          <a:bodyPr wrap="square" lIns="0" tIns="0" rIns="0" bIns="0" rtlCol="0" anchor="ctr"/>
          <a:lstStyle/>
          <a:p>
            <a:pPr algn="ctr" indent="0" marL="0">
              <a:buNone/>
            </a:pPr>
            <a:r>
              <a:rPr lang="en-US" sz="6000" b="1" dirty="0">
                <a:solidFill>
                  <a:srgbClr val="F5A623"/>
                </a:solidFill>
                <a:latin typeface="Cambria" pitchFamily="34" charset="0"/>
                <a:ea typeface="Cambria" pitchFamily="34" charset="-122"/>
                <a:cs typeface="Cambria" pitchFamily="34" charset="-120"/>
              </a:rPr>
              <a:t>₹____</a:t>
            </a:r>
            <a:endParaRPr lang="en-US" sz="6000" dirty="0"/>
          </a:p>
        </p:txBody>
      </p:sp>
      <p:sp>
        <p:nvSpPr>
          <p:cNvPr id="6" name="Text 4"/>
          <p:cNvSpPr/>
          <p:nvPr/>
        </p:nvSpPr>
        <p:spPr>
          <a:xfrm>
            <a:off x="1005840" y="3886200"/>
            <a:ext cx="3017520" cy="1005840"/>
          </a:xfrm>
          <a:prstGeom prst="rect">
            <a:avLst/>
          </a:prstGeom>
          <a:noFill/>
          <a:ln/>
        </p:spPr>
        <p:txBody>
          <a:bodyPr wrap="square" lIns="0" tIns="0" rIns="0" bIns="0" rtlCol="0" anchor="ctr"/>
          <a:lstStyle/>
          <a:p>
            <a:pPr algn="ctr" indent="0" marL="0">
              <a:lnSpc>
                <a:spcPct val="105000"/>
              </a:lnSpc>
              <a:buNone/>
            </a:pPr>
            <a:r>
              <a:rPr lang="en-US" sz="1600" dirty="0">
                <a:solidFill>
                  <a:srgbClr val="C7D2DE"/>
                </a:solidFill>
                <a:latin typeface="Calibri" pitchFamily="34" charset="0"/>
                <a:ea typeface="Calibri" pitchFamily="34" charset="-122"/>
                <a:cs typeface="Calibri" pitchFamily="34" charset="-120"/>
              </a:rPr>
              <a:t>lost per unplanned</a:t>
            </a:r>
            <a:endParaRPr lang="en-US" sz="1600" dirty="0"/>
          </a:p>
          <a:p>
            <a:pPr algn="ctr" indent="0" marL="0">
              <a:lnSpc>
                <a:spcPct val="105000"/>
              </a:lnSpc>
              <a:buNone/>
            </a:pPr>
            <a:r>
              <a:rPr lang="en-US" sz="1600" dirty="0">
                <a:solidFill>
                  <a:srgbClr val="C7D2DE"/>
                </a:solidFill>
                <a:latin typeface="Calibri" pitchFamily="34" charset="0"/>
                <a:ea typeface="Calibri" pitchFamily="34" charset="-122"/>
                <a:cs typeface="Calibri" pitchFamily="34" charset="-120"/>
              </a:rPr>
              <a:t>breakdown hour</a:t>
            </a:r>
            <a:endParaRPr lang="en-US" sz="1600" dirty="0"/>
          </a:p>
        </p:txBody>
      </p:sp>
      <p:sp>
        <p:nvSpPr>
          <p:cNvPr id="7" name="Shape 5"/>
          <p:cNvSpPr/>
          <p:nvPr/>
        </p:nvSpPr>
        <p:spPr>
          <a:xfrm>
            <a:off x="4526280" y="2240280"/>
            <a:ext cx="3383280" cy="2834640"/>
          </a:xfrm>
          <a:prstGeom prst="roundRect">
            <a:avLst>
              <a:gd name="adj" fmla="val 3871"/>
            </a:avLst>
          </a:prstGeom>
          <a:solidFill>
            <a:srgbClr val="2C3E52"/>
          </a:solidFill>
          <a:ln/>
        </p:spPr>
      </p:sp>
      <p:sp>
        <p:nvSpPr>
          <p:cNvPr id="8" name="Text 6"/>
          <p:cNvSpPr/>
          <p:nvPr/>
        </p:nvSpPr>
        <p:spPr>
          <a:xfrm>
            <a:off x="4709160" y="2560320"/>
            <a:ext cx="3017520" cy="1188720"/>
          </a:xfrm>
          <a:prstGeom prst="rect">
            <a:avLst/>
          </a:prstGeom>
          <a:noFill/>
          <a:ln/>
        </p:spPr>
        <p:txBody>
          <a:bodyPr wrap="square" lIns="0" tIns="0" rIns="0" bIns="0" rtlCol="0" anchor="ctr"/>
          <a:lstStyle/>
          <a:p>
            <a:pPr algn="ctr" indent="0" marL="0">
              <a:buNone/>
            </a:pPr>
            <a:r>
              <a:rPr lang="en-US" sz="6000" b="1" dirty="0">
                <a:solidFill>
                  <a:srgbClr val="F5A623"/>
                </a:solidFill>
                <a:latin typeface="Cambria" pitchFamily="34" charset="0"/>
                <a:ea typeface="Cambria" pitchFamily="34" charset="-122"/>
                <a:cs typeface="Cambria" pitchFamily="34" charset="-120"/>
              </a:rPr>
              <a:t>____</a:t>
            </a:r>
            <a:endParaRPr lang="en-US" sz="6000" dirty="0"/>
          </a:p>
        </p:txBody>
      </p:sp>
      <p:sp>
        <p:nvSpPr>
          <p:cNvPr id="9" name="Text 7"/>
          <p:cNvSpPr/>
          <p:nvPr/>
        </p:nvSpPr>
        <p:spPr>
          <a:xfrm>
            <a:off x="4709160" y="3886200"/>
            <a:ext cx="3017520" cy="1005840"/>
          </a:xfrm>
          <a:prstGeom prst="rect">
            <a:avLst/>
          </a:prstGeom>
          <a:noFill/>
          <a:ln/>
        </p:spPr>
        <p:txBody>
          <a:bodyPr wrap="square" lIns="0" tIns="0" rIns="0" bIns="0" rtlCol="0" anchor="ctr"/>
          <a:lstStyle/>
          <a:p>
            <a:pPr algn="ctr" indent="0" marL="0">
              <a:lnSpc>
                <a:spcPct val="105000"/>
              </a:lnSpc>
              <a:buNone/>
            </a:pPr>
            <a:r>
              <a:rPr lang="en-US" sz="1600" dirty="0">
                <a:solidFill>
                  <a:srgbClr val="C7D2DE"/>
                </a:solidFill>
                <a:latin typeface="Calibri" pitchFamily="34" charset="0"/>
                <a:ea typeface="Calibri" pitchFamily="34" charset="-122"/>
                <a:cs typeface="Calibri" pitchFamily="34" charset="-120"/>
              </a:rPr>
              <a:t>breakdowns per month</a:t>
            </a:r>
            <a:endParaRPr lang="en-US" sz="1600" dirty="0"/>
          </a:p>
          <a:p>
            <a:pPr algn="ctr" indent="0" marL="0">
              <a:lnSpc>
                <a:spcPct val="105000"/>
              </a:lnSpc>
              <a:buNone/>
            </a:pPr>
            <a:r>
              <a:rPr lang="en-US" sz="1600" dirty="0">
                <a:solidFill>
                  <a:srgbClr val="C7D2DE"/>
                </a:solidFill>
                <a:latin typeface="Calibri" pitchFamily="34" charset="0"/>
                <a:ea typeface="Calibri" pitchFamily="34" charset="-122"/>
                <a:cs typeface="Calibri" pitchFamily="34" charset="-120"/>
              </a:rPr>
              <a:t>(average unit)</a:t>
            </a:r>
            <a:endParaRPr lang="en-US" sz="1600" dirty="0"/>
          </a:p>
        </p:txBody>
      </p:sp>
      <p:sp>
        <p:nvSpPr>
          <p:cNvPr id="10" name="Shape 8"/>
          <p:cNvSpPr/>
          <p:nvPr/>
        </p:nvSpPr>
        <p:spPr>
          <a:xfrm>
            <a:off x="8229600" y="2240280"/>
            <a:ext cx="3383280" cy="2834640"/>
          </a:xfrm>
          <a:prstGeom prst="roundRect">
            <a:avLst>
              <a:gd name="adj" fmla="val 3871"/>
            </a:avLst>
          </a:prstGeom>
          <a:solidFill>
            <a:srgbClr val="2C3E52"/>
          </a:solidFill>
          <a:ln/>
        </p:spPr>
      </p:sp>
      <p:sp>
        <p:nvSpPr>
          <p:cNvPr id="11" name="Text 9"/>
          <p:cNvSpPr/>
          <p:nvPr/>
        </p:nvSpPr>
        <p:spPr>
          <a:xfrm>
            <a:off x="8412480" y="2560320"/>
            <a:ext cx="3017520" cy="1188720"/>
          </a:xfrm>
          <a:prstGeom prst="rect">
            <a:avLst/>
          </a:prstGeom>
          <a:noFill/>
          <a:ln/>
        </p:spPr>
        <p:txBody>
          <a:bodyPr wrap="square" lIns="0" tIns="0" rIns="0" bIns="0" rtlCol="0" anchor="ctr"/>
          <a:lstStyle/>
          <a:p>
            <a:pPr algn="ctr" indent="0" marL="0">
              <a:buNone/>
            </a:pPr>
            <a:r>
              <a:rPr lang="en-US" sz="6000" b="1" dirty="0">
                <a:solidFill>
                  <a:srgbClr val="F5A623"/>
                </a:solidFill>
                <a:latin typeface="Cambria" pitchFamily="34" charset="0"/>
                <a:ea typeface="Cambria" pitchFamily="34" charset="-122"/>
                <a:cs typeface="Cambria" pitchFamily="34" charset="-120"/>
              </a:rPr>
              <a:t>= ₹ ?</a:t>
            </a:r>
            <a:endParaRPr lang="en-US" sz="6000" dirty="0"/>
          </a:p>
        </p:txBody>
      </p:sp>
      <p:sp>
        <p:nvSpPr>
          <p:cNvPr id="12" name="Text 10"/>
          <p:cNvSpPr/>
          <p:nvPr/>
        </p:nvSpPr>
        <p:spPr>
          <a:xfrm>
            <a:off x="8412480" y="3886200"/>
            <a:ext cx="3017520" cy="1005840"/>
          </a:xfrm>
          <a:prstGeom prst="rect">
            <a:avLst/>
          </a:prstGeom>
          <a:noFill/>
          <a:ln/>
        </p:spPr>
        <p:txBody>
          <a:bodyPr wrap="square" lIns="0" tIns="0" rIns="0" bIns="0" rtlCol="0" anchor="ctr"/>
          <a:lstStyle/>
          <a:p>
            <a:pPr algn="ctr" indent="0" marL="0">
              <a:lnSpc>
                <a:spcPct val="105000"/>
              </a:lnSpc>
              <a:buNone/>
            </a:pPr>
            <a:r>
              <a:rPr lang="en-US" sz="1600" dirty="0">
                <a:solidFill>
                  <a:srgbClr val="C7D2DE"/>
                </a:solidFill>
                <a:latin typeface="Calibri" pitchFamily="34" charset="0"/>
                <a:ea typeface="Calibri" pitchFamily="34" charset="-122"/>
                <a:cs typeface="Calibri" pitchFamily="34" charset="-120"/>
              </a:rPr>
              <a:t>untracked loss,</a:t>
            </a:r>
            <a:endParaRPr lang="en-US" sz="1600" dirty="0"/>
          </a:p>
          <a:p>
            <a:pPr algn="ctr" indent="0" marL="0">
              <a:lnSpc>
                <a:spcPct val="105000"/>
              </a:lnSpc>
              <a:buNone/>
            </a:pPr>
            <a:r>
              <a:rPr lang="en-US" sz="1600" dirty="0">
                <a:solidFill>
                  <a:srgbClr val="C7D2DE"/>
                </a:solidFill>
                <a:latin typeface="Calibri" pitchFamily="34" charset="0"/>
                <a:ea typeface="Calibri" pitchFamily="34" charset="-122"/>
                <a:cs typeface="Calibri" pitchFamily="34" charset="-120"/>
              </a:rPr>
              <a:t>every single month</a:t>
            </a:r>
            <a:endParaRPr lang="en-US" sz="1600" dirty="0"/>
          </a:p>
        </p:txBody>
      </p:sp>
      <p:sp>
        <p:nvSpPr>
          <p:cNvPr id="13" name="Text 11"/>
          <p:cNvSpPr/>
          <p:nvPr/>
        </p:nvSpPr>
        <p:spPr>
          <a:xfrm>
            <a:off x="822960" y="5532120"/>
            <a:ext cx="10515600" cy="640080"/>
          </a:xfrm>
          <a:prstGeom prst="rect">
            <a:avLst/>
          </a:prstGeom>
          <a:noFill/>
          <a:ln/>
        </p:spPr>
        <p:txBody>
          <a:bodyPr wrap="square" lIns="0" tIns="0" rIns="0" bIns="0" rtlCol="0" anchor="ctr"/>
          <a:lstStyle/>
          <a:p>
            <a:pPr algn="ctr" indent="0" marL="0">
              <a:buNone/>
            </a:pPr>
            <a:r>
              <a:rPr lang="en-US" sz="1600" b="1" i="1" dirty="0">
                <a:solidFill>
                  <a:srgbClr val="F5A623"/>
                </a:solidFill>
                <a:latin typeface="Calibri" pitchFamily="34" charset="0"/>
                <a:ea typeface="Calibri" pitchFamily="34" charset="-122"/>
                <a:cs typeface="Calibri" pitchFamily="34" charset="-120"/>
              </a:rPr>
              <a:t>These are placeholders — I'm guessing. Tear them apart. Am I in the right ballpark, or off by 10x?</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THE IDEA — 30 SECONDS ONLY</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3800" b="1" dirty="0">
                <a:solidFill>
                  <a:srgbClr val="16202E"/>
                </a:solidFill>
                <a:latin typeface="Cambria" pitchFamily="34" charset="0"/>
                <a:ea typeface="Cambria" pitchFamily="34" charset="-122"/>
                <a:cs typeface="Cambria" pitchFamily="34" charset="-120"/>
              </a:rPr>
              <a:t>No app. No typing. No training.</a:t>
            </a:r>
            <a:endParaRPr lang="en-US" sz="3800" dirty="0"/>
          </a:p>
        </p:txBody>
      </p:sp>
      <p:sp>
        <p:nvSpPr>
          <p:cNvPr id="4" name="Shape 2"/>
          <p:cNvSpPr/>
          <p:nvPr/>
        </p:nvSpPr>
        <p:spPr>
          <a:xfrm>
            <a:off x="667512" y="2468880"/>
            <a:ext cx="1965960" cy="2377440"/>
          </a:xfrm>
          <a:prstGeom prst="roundRect">
            <a:avLst>
              <a:gd name="adj" fmla="val 5581"/>
            </a:avLst>
          </a:prstGeom>
          <a:solidFill>
            <a:srgbClr val="F3F5F8"/>
          </a:solidFill>
          <a:ln/>
        </p:spPr>
      </p:sp>
      <p:sp>
        <p:nvSpPr>
          <p:cNvPr id="5" name="Shape 3"/>
          <p:cNvSpPr/>
          <p:nvPr/>
        </p:nvSpPr>
        <p:spPr>
          <a:xfrm>
            <a:off x="1330452" y="2761488"/>
            <a:ext cx="640080" cy="640080"/>
          </a:xfrm>
          <a:prstGeom prst="ellipse">
            <a:avLst/>
          </a:prstGeom>
          <a:solidFill>
            <a:srgbClr val="F5A623"/>
          </a:solidFill>
          <a:ln/>
        </p:spPr>
      </p:sp>
      <p:sp>
        <p:nvSpPr>
          <p:cNvPr id="6" name="Text 4"/>
          <p:cNvSpPr/>
          <p:nvPr/>
        </p:nvSpPr>
        <p:spPr>
          <a:xfrm>
            <a:off x="1330452" y="2761488"/>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13232" y="3520440"/>
            <a:ext cx="1874520" cy="457200"/>
          </a:xfrm>
          <a:prstGeom prst="rect">
            <a:avLst/>
          </a:prstGeom>
          <a:noFill/>
          <a:ln/>
        </p:spPr>
        <p:txBody>
          <a:bodyPr wrap="square" lIns="0" tIns="0" rIns="0" bIns="0" rtlCol="0" anchor="ctr"/>
          <a:lstStyle/>
          <a:p>
            <a:pPr algn="ctr" indent="0" marL="0">
              <a:buNone/>
            </a:pPr>
            <a:r>
              <a:rPr lang="en-US" sz="2100" b="1" dirty="0">
                <a:solidFill>
                  <a:srgbClr val="16202E"/>
                </a:solidFill>
                <a:latin typeface="Cambria" pitchFamily="34" charset="0"/>
                <a:ea typeface="Cambria" pitchFamily="34" charset="-122"/>
                <a:cs typeface="Cambria" pitchFamily="34" charset="-120"/>
              </a:rPr>
              <a:t>Scan</a:t>
            </a:r>
            <a:endParaRPr lang="en-US" sz="2100" dirty="0"/>
          </a:p>
        </p:txBody>
      </p:sp>
      <p:sp>
        <p:nvSpPr>
          <p:cNvPr id="8" name="Text 6"/>
          <p:cNvSpPr/>
          <p:nvPr/>
        </p:nvSpPr>
        <p:spPr>
          <a:xfrm>
            <a:off x="804672" y="3977640"/>
            <a:ext cx="1691640" cy="777240"/>
          </a:xfrm>
          <a:prstGeom prst="rect">
            <a:avLst/>
          </a:prstGeom>
          <a:noFill/>
          <a:ln/>
        </p:spPr>
        <p:txBody>
          <a:bodyPr wrap="square" lIns="0" tIns="0" rIns="0" bIns="0" rtlCol="0" anchor="ctr"/>
          <a:lstStyle/>
          <a:p>
            <a:pPr algn="ctr" indent="0" marL="0">
              <a:lnSpc>
                <a:spcPct val="105000"/>
              </a:lnSpc>
              <a:buNone/>
            </a:pPr>
            <a:r>
              <a:rPr lang="en-US" sz="1300" dirty="0">
                <a:solidFill>
                  <a:srgbClr val="6B7A8D"/>
                </a:solidFill>
                <a:latin typeface="Calibri" pitchFamily="34" charset="0"/>
                <a:ea typeface="Calibri" pitchFamily="34" charset="-122"/>
                <a:cs typeface="Calibri" pitchFamily="34" charset="-120"/>
              </a:rPr>
              <a:t>Worker scans a QR sticker on the machine</a:t>
            </a:r>
            <a:endParaRPr lang="en-US" sz="1300" dirty="0"/>
          </a:p>
        </p:txBody>
      </p:sp>
      <p:sp>
        <p:nvSpPr>
          <p:cNvPr id="9" name="Text 7"/>
          <p:cNvSpPr/>
          <p:nvPr/>
        </p:nvSpPr>
        <p:spPr>
          <a:xfrm>
            <a:off x="2615184" y="3246120"/>
            <a:ext cx="292608" cy="822960"/>
          </a:xfrm>
          <a:prstGeom prst="rect">
            <a:avLst/>
          </a:prstGeom>
          <a:noFill/>
          <a:ln/>
        </p:spPr>
        <p:txBody>
          <a:bodyPr wrap="square" lIns="0" tIns="0" rIns="0" bIns="0" rtlCol="0" anchor="ctr"/>
          <a:lstStyle/>
          <a:p>
            <a:pPr algn="ctr" indent="0" marL="0">
              <a:buNone/>
            </a:pPr>
            <a:r>
              <a:rPr lang="en-US" sz="3000" b="1" dirty="0">
                <a:solidFill>
                  <a:srgbClr val="F5A623"/>
                </a:solidFill>
                <a:latin typeface="Calibri" pitchFamily="34" charset="0"/>
                <a:ea typeface="Calibri" pitchFamily="34" charset="-122"/>
                <a:cs typeface="Calibri" pitchFamily="34" charset="-120"/>
              </a:rPr>
              <a:t>›</a:t>
            </a:r>
            <a:endParaRPr lang="en-US" sz="3000" dirty="0"/>
          </a:p>
        </p:txBody>
      </p:sp>
      <p:sp>
        <p:nvSpPr>
          <p:cNvPr id="10" name="Shape 8"/>
          <p:cNvSpPr/>
          <p:nvPr/>
        </p:nvSpPr>
        <p:spPr>
          <a:xfrm>
            <a:off x="2889504" y="2468880"/>
            <a:ext cx="1965960" cy="2377440"/>
          </a:xfrm>
          <a:prstGeom prst="roundRect">
            <a:avLst>
              <a:gd name="adj" fmla="val 5581"/>
            </a:avLst>
          </a:prstGeom>
          <a:solidFill>
            <a:srgbClr val="F3F5F8"/>
          </a:solidFill>
          <a:ln/>
        </p:spPr>
      </p:sp>
      <p:sp>
        <p:nvSpPr>
          <p:cNvPr id="11" name="Shape 9"/>
          <p:cNvSpPr/>
          <p:nvPr/>
        </p:nvSpPr>
        <p:spPr>
          <a:xfrm>
            <a:off x="3552444" y="2761488"/>
            <a:ext cx="640080" cy="640080"/>
          </a:xfrm>
          <a:prstGeom prst="ellipse">
            <a:avLst/>
          </a:prstGeom>
          <a:solidFill>
            <a:srgbClr val="F5A623"/>
          </a:solidFill>
          <a:ln/>
        </p:spPr>
      </p:sp>
      <p:sp>
        <p:nvSpPr>
          <p:cNvPr id="12" name="Text 10"/>
          <p:cNvSpPr/>
          <p:nvPr/>
        </p:nvSpPr>
        <p:spPr>
          <a:xfrm>
            <a:off x="3552444" y="2761488"/>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2935224" y="3520440"/>
            <a:ext cx="1874520" cy="457200"/>
          </a:xfrm>
          <a:prstGeom prst="rect">
            <a:avLst/>
          </a:prstGeom>
          <a:noFill/>
          <a:ln/>
        </p:spPr>
        <p:txBody>
          <a:bodyPr wrap="square" lIns="0" tIns="0" rIns="0" bIns="0" rtlCol="0" anchor="ctr"/>
          <a:lstStyle/>
          <a:p>
            <a:pPr algn="ctr" indent="0" marL="0">
              <a:buNone/>
            </a:pPr>
            <a:r>
              <a:rPr lang="en-US" sz="2100" b="1" dirty="0">
                <a:solidFill>
                  <a:srgbClr val="16202E"/>
                </a:solidFill>
                <a:latin typeface="Cambria" pitchFamily="34" charset="0"/>
                <a:ea typeface="Cambria" pitchFamily="34" charset="-122"/>
                <a:cs typeface="Cambria" pitchFamily="34" charset="-120"/>
              </a:rPr>
              <a:t>Speak</a:t>
            </a:r>
            <a:endParaRPr lang="en-US" sz="2100" dirty="0"/>
          </a:p>
        </p:txBody>
      </p:sp>
      <p:sp>
        <p:nvSpPr>
          <p:cNvPr id="14" name="Text 12"/>
          <p:cNvSpPr/>
          <p:nvPr/>
        </p:nvSpPr>
        <p:spPr>
          <a:xfrm>
            <a:off x="3026664" y="3977640"/>
            <a:ext cx="1691640" cy="777240"/>
          </a:xfrm>
          <a:prstGeom prst="rect">
            <a:avLst/>
          </a:prstGeom>
          <a:noFill/>
          <a:ln/>
        </p:spPr>
        <p:txBody>
          <a:bodyPr wrap="square" lIns="0" tIns="0" rIns="0" bIns="0" rtlCol="0" anchor="ctr"/>
          <a:lstStyle/>
          <a:p>
            <a:pPr algn="ctr" indent="0" marL="0">
              <a:lnSpc>
                <a:spcPct val="105000"/>
              </a:lnSpc>
              <a:buNone/>
            </a:pPr>
            <a:r>
              <a:rPr lang="en-US" sz="1300" dirty="0">
                <a:solidFill>
                  <a:srgbClr val="6B7A8D"/>
                </a:solidFill>
                <a:latin typeface="Calibri" pitchFamily="34" charset="0"/>
                <a:ea typeface="Calibri" pitchFamily="34" charset="-122"/>
                <a:cs typeface="Calibri" pitchFamily="34" charset="-120"/>
              </a:rPr>
              <a:t>WhatsApp opens — he sends a voice note</a:t>
            </a:r>
            <a:endParaRPr lang="en-US" sz="1300" dirty="0"/>
          </a:p>
        </p:txBody>
      </p:sp>
      <p:sp>
        <p:nvSpPr>
          <p:cNvPr id="15" name="Text 13"/>
          <p:cNvSpPr/>
          <p:nvPr/>
        </p:nvSpPr>
        <p:spPr>
          <a:xfrm>
            <a:off x="4837176" y="3246120"/>
            <a:ext cx="292608" cy="822960"/>
          </a:xfrm>
          <a:prstGeom prst="rect">
            <a:avLst/>
          </a:prstGeom>
          <a:noFill/>
          <a:ln/>
        </p:spPr>
        <p:txBody>
          <a:bodyPr wrap="square" lIns="0" tIns="0" rIns="0" bIns="0" rtlCol="0" anchor="ctr"/>
          <a:lstStyle/>
          <a:p>
            <a:pPr algn="ctr" indent="0" marL="0">
              <a:buNone/>
            </a:pPr>
            <a:r>
              <a:rPr lang="en-US" sz="3000" b="1" dirty="0">
                <a:solidFill>
                  <a:srgbClr val="F5A623"/>
                </a:solidFill>
                <a:latin typeface="Calibri" pitchFamily="34" charset="0"/>
                <a:ea typeface="Calibri" pitchFamily="34" charset="-122"/>
                <a:cs typeface="Calibri" pitchFamily="34" charset="-120"/>
              </a:rPr>
              <a:t>›</a:t>
            </a:r>
            <a:endParaRPr lang="en-US" sz="3000" dirty="0"/>
          </a:p>
        </p:txBody>
      </p:sp>
      <p:sp>
        <p:nvSpPr>
          <p:cNvPr id="16" name="Shape 14"/>
          <p:cNvSpPr/>
          <p:nvPr/>
        </p:nvSpPr>
        <p:spPr>
          <a:xfrm>
            <a:off x="5111496" y="2468880"/>
            <a:ext cx="1965960" cy="2377440"/>
          </a:xfrm>
          <a:prstGeom prst="roundRect">
            <a:avLst>
              <a:gd name="adj" fmla="val 5581"/>
            </a:avLst>
          </a:prstGeom>
          <a:solidFill>
            <a:srgbClr val="F3F5F8"/>
          </a:solidFill>
          <a:ln/>
        </p:spPr>
      </p:sp>
      <p:sp>
        <p:nvSpPr>
          <p:cNvPr id="17" name="Shape 15"/>
          <p:cNvSpPr/>
          <p:nvPr/>
        </p:nvSpPr>
        <p:spPr>
          <a:xfrm>
            <a:off x="5774436" y="2761488"/>
            <a:ext cx="640080" cy="640080"/>
          </a:xfrm>
          <a:prstGeom prst="ellipse">
            <a:avLst/>
          </a:prstGeom>
          <a:solidFill>
            <a:srgbClr val="F5A623"/>
          </a:solidFill>
          <a:ln/>
        </p:spPr>
      </p:sp>
      <p:sp>
        <p:nvSpPr>
          <p:cNvPr id="18" name="Text 16"/>
          <p:cNvSpPr/>
          <p:nvPr/>
        </p:nvSpPr>
        <p:spPr>
          <a:xfrm>
            <a:off x="5774436" y="2761488"/>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5157216" y="3520440"/>
            <a:ext cx="1874520" cy="457200"/>
          </a:xfrm>
          <a:prstGeom prst="rect">
            <a:avLst/>
          </a:prstGeom>
          <a:noFill/>
          <a:ln/>
        </p:spPr>
        <p:txBody>
          <a:bodyPr wrap="square" lIns="0" tIns="0" rIns="0" bIns="0" rtlCol="0" anchor="ctr"/>
          <a:lstStyle/>
          <a:p>
            <a:pPr algn="ctr" indent="0" marL="0">
              <a:buNone/>
            </a:pPr>
            <a:r>
              <a:rPr lang="en-US" sz="2100" b="1" dirty="0">
                <a:solidFill>
                  <a:srgbClr val="16202E"/>
                </a:solidFill>
                <a:latin typeface="Cambria" pitchFamily="34" charset="0"/>
                <a:ea typeface="Cambria" pitchFamily="34" charset="-122"/>
                <a:cs typeface="Cambria" pitchFamily="34" charset="-120"/>
              </a:rPr>
              <a:t>AI</a:t>
            </a:r>
            <a:endParaRPr lang="en-US" sz="2100" dirty="0"/>
          </a:p>
        </p:txBody>
      </p:sp>
      <p:sp>
        <p:nvSpPr>
          <p:cNvPr id="20" name="Text 18"/>
          <p:cNvSpPr/>
          <p:nvPr/>
        </p:nvSpPr>
        <p:spPr>
          <a:xfrm>
            <a:off x="5248656" y="3977640"/>
            <a:ext cx="1691640" cy="777240"/>
          </a:xfrm>
          <a:prstGeom prst="rect">
            <a:avLst/>
          </a:prstGeom>
          <a:noFill/>
          <a:ln/>
        </p:spPr>
        <p:txBody>
          <a:bodyPr wrap="square" lIns="0" tIns="0" rIns="0" bIns="0" rtlCol="0" anchor="ctr"/>
          <a:lstStyle/>
          <a:p>
            <a:pPr algn="ctr" indent="0" marL="0">
              <a:lnSpc>
                <a:spcPct val="105000"/>
              </a:lnSpc>
              <a:buNone/>
            </a:pPr>
            <a:r>
              <a:rPr lang="en-US" sz="1300" dirty="0">
                <a:solidFill>
                  <a:srgbClr val="6B7A8D"/>
                </a:solidFill>
                <a:latin typeface="Calibri" pitchFamily="34" charset="0"/>
                <a:ea typeface="Calibri" pitchFamily="34" charset="-122"/>
                <a:cs typeface="Calibri" pitchFamily="34" charset="-120"/>
              </a:rPr>
              <a:t>AI turns it into a clean ticket</a:t>
            </a:r>
            <a:endParaRPr lang="en-US" sz="1300" dirty="0"/>
          </a:p>
        </p:txBody>
      </p:sp>
      <p:sp>
        <p:nvSpPr>
          <p:cNvPr id="21" name="Text 19"/>
          <p:cNvSpPr/>
          <p:nvPr/>
        </p:nvSpPr>
        <p:spPr>
          <a:xfrm>
            <a:off x="7059168" y="3246120"/>
            <a:ext cx="292608" cy="822960"/>
          </a:xfrm>
          <a:prstGeom prst="rect">
            <a:avLst/>
          </a:prstGeom>
          <a:noFill/>
          <a:ln/>
        </p:spPr>
        <p:txBody>
          <a:bodyPr wrap="square" lIns="0" tIns="0" rIns="0" bIns="0" rtlCol="0" anchor="ctr"/>
          <a:lstStyle/>
          <a:p>
            <a:pPr algn="ctr" indent="0" marL="0">
              <a:buNone/>
            </a:pPr>
            <a:r>
              <a:rPr lang="en-US" sz="3000" b="1" dirty="0">
                <a:solidFill>
                  <a:srgbClr val="F5A623"/>
                </a:solidFill>
                <a:latin typeface="Calibri" pitchFamily="34" charset="0"/>
                <a:ea typeface="Calibri" pitchFamily="34" charset="-122"/>
                <a:cs typeface="Calibri" pitchFamily="34" charset="-120"/>
              </a:rPr>
              <a:t>›</a:t>
            </a:r>
            <a:endParaRPr lang="en-US" sz="3000" dirty="0"/>
          </a:p>
        </p:txBody>
      </p:sp>
      <p:sp>
        <p:nvSpPr>
          <p:cNvPr id="22" name="Shape 20"/>
          <p:cNvSpPr/>
          <p:nvPr/>
        </p:nvSpPr>
        <p:spPr>
          <a:xfrm>
            <a:off x="7333488" y="2468880"/>
            <a:ext cx="1965960" cy="2377440"/>
          </a:xfrm>
          <a:prstGeom prst="roundRect">
            <a:avLst>
              <a:gd name="adj" fmla="val 5581"/>
            </a:avLst>
          </a:prstGeom>
          <a:solidFill>
            <a:srgbClr val="F3F5F8"/>
          </a:solidFill>
          <a:ln/>
        </p:spPr>
      </p:sp>
      <p:sp>
        <p:nvSpPr>
          <p:cNvPr id="23" name="Shape 21"/>
          <p:cNvSpPr/>
          <p:nvPr/>
        </p:nvSpPr>
        <p:spPr>
          <a:xfrm>
            <a:off x="7996428" y="2761488"/>
            <a:ext cx="640080" cy="640080"/>
          </a:xfrm>
          <a:prstGeom prst="ellipse">
            <a:avLst/>
          </a:prstGeom>
          <a:solidFill>
            <a:srgbClr val="F5A623"/>
          </a:solidFill>
          <a:ln/>
        </p:spPr>
      </p:sp>
      <p:sp>
        <p:nvSpPr>
          <p:cNvPr id="24" name="Text 22"/>
          <p:cNvSpPr/>
          <p:nvPr/>
        </p:nvSpPr>
        <p:spPr>
          <a:xfrm>
            <a:off x="7996428" y="2761488"/>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7379208" y="3520440"/>
            <a:ext cx="1874520" cy="457200"/>
          </a:xfrm>
          <a:prstGeom prst="rect">
            <a:avLst/>
          </a:prstGeom>
          <a:noFill/>
          <a:ln/>
        </p:spPr>
        <p:txBody>
          <a:bodyPr wrap="square" lIns="0" tIns="0" rIns="0" bIns="0" rtlCol="0" anchor="ctr"/>
          <a:lstStyle/>
          <a:p>
            <a:pPr algn="ctr" indent="0" marL="0">
              <a:buNone/>
            </a:pPr>
            <a:r>
              <a:rPr lang="en-US" sz="2100" b="1" dirty="0">
                <a:solidFill>
                  <a:srgbClr val="16202E"/>
                </a:solidFill>
                <a:latin typeface="Cambria" pitchFamily="34" charset="0"/>
                <a:ea typeface="Cambria" pitchFamily="34" charset="-122"/>
                <a:cs typeface="Cambria" pitchFamily="34" charset="-120"/>
              </a:rPr>
              <a:t>Notify</a:t>
            </a:r>
            <a:endParaRPr lang="en-US" sz="2100" dirty="0"/>
          </a:p>
        </p:txBody>
      </p:sp>
      <p:sp>
        <p:nvSpPr>
          <p:cNvPr id="26" name="Text 24"/>
          <p:cNvSpPr/>
          <p:nvPr/>
        </p:nvSpPr>
        <p:spPr>
          <a:xfrm>
            <a:off x="7470648" y="3977640"/>
            <a:ext cx="1691640" cy="777240"/>
          </a:xfrm>
          <a:prstGeom prst="rect">
            <a:avLst/>
          </a:prstGeom>
          <a:noFill/>
          <a:ln/>
        </p:spPr>
        <p:txBody>
          <a:bodyPr wrap="square" lIns="0" tIns="0" rIns="0" bIns="0" rtlCol="0" anchor="ctr"/>
          <a:lstStyle/>
          <a:p>
            <a:pPr algn="ctr" indent="0" marL="0">
              <a:lnSpc>
                <a:spcPct val="105000"/>
              </a:lnSpc>
              <a:buNone/>
            </a:pPr>
            <a:r>
              <a:rPr lang="en-US" sz="1300" dirty="0">
                <a:solidFill>
                  <a:srgbClr val="6B7A8D"/>
                </a:solidFill>
                <a:latin typeface="Calibri" pitchFamily="34" charset="0"/>
                <a:ea typeface="Calibri" pitchFamily="34" charset="-122"/>
                <a:cs typeface="Calibri" pitchFamily="34" charset="-120"/>
              </a:rPr>
              <a:t>The right person is alerted instantly</a:t>
            </a:r>
            <a:endParaRPr lang="en-US" sz="1300" dirty="0"/>
          </a:p>
        </p:txBody>
      </p:sp>
      <p:sp>
        <p:nvSpPr>
          <p:cNvPr id="27" name="Text 25"/>
          <p:cNvSpPr/>
          <p:nvPr/>
        </p:nvSpPr>
        <p:spPr>
          <a:xfrm>
            <a:off x="9281160" y="3246120"/>
            <a:ext cx="292608" cy="822960"/>
          </a:xfrm>
          <a:prstGeom prst="rect">
            <a:avLst/>
          </a:prstGeom>
          <a:noFill/>
          <a:ln/>
        </p:spPr>
        <p:txBody>
          <a:bodyPr wrap="square" lIns="0" tIns="0" rIns="0" bIns="0" rtlCol="0" anchor="ctr"/>
          <a:lstStyle/>
          <a:p>
            <a:pPr algn="ctr" indent="0" marL="0">
              <a:buNone/>
            </a:pPr>
            <a:r>
              <a:rPr lang="en-US" sz="3000" b="1" dirty="0">
                <a:solidFill>
                  <a:srgbClr val="F5A623"/>
                </a:solidFill>
                <a:latin typeface="Calibri" pitchFamily="34" charset="0"/>
                <a:ea typeface="Calibri" pitchFamily="34" charset="-122"/>
                <a:cs typeface="Calibri" pitchFamily="34" charset="-120"/>
              </a:rPr>
              <a:t>›</a:t>
            </a:r>
            <a:endParaRPr lang="en-US" sz="3000" dirty="0"/>
          </a:p>
        </p:txBody>
      </p:sp>
      <p:sp>
        <p:nvSpPr>
          <p:cNvPr id="28" name="Shape 26"/>
          <p:cNvSpPr/>
          <p:nvPr/>
        </p:nvSpPr>
        <p:spPr>
          <a:xfrm>
            <a:off x="9555480" y="2468880"/>
            <a:ext cx="1965960" cy="2377440"/>
          </a:xfrm>
          <a:prstGeom prst="roundRect">
            <a:avLst>
              <a:gd name="adj" fmla="val 5581"/>
            </a:avLst>
          </a:prstGeom>
          <a:solidFill>
            <a:srgbClr val="F3F5F8"/>
          </a:solidFill>
          <a:ln/>
        </p:spPr>
      </p:sp>
      <p:sp>
        <p:nvSpPr>
          <p:cNvPr id="29" name="Shape 27"/>
          <p:cNvSpPr/>
          <p:nvPr/>
        </p:nvSpPr>
        <p:spPr>
          <a:xfrm>
            <a:off x="10218420" y="2761488"/>
            <a:ext cx="640080" cy="640080"/>
          </a:xfrm>
          <a:prstGeom prst="ellipse">
            <a:avLst/>
          </a:prstGeom>
          <a:solidFill>
            <a:srgbClr val="F5A623"/>
          </a:solidFill>
          <a:ln/>
        </p:spPr>
      </p:sp>
      <p:sp>
        <p:nvSpPr>
          <p:cNvPr id="30" name="Text 28"/>
          <p:cNvSpPr/>
          <p:nvPr/>
        </p:nvSpPr>
        <p:spPr>
          <a:xfrm>
            <a:off x="10218420" y="2761488"/>
            <a:ext cx="640080" cy="640080"/>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5</a:t>
            </a:r>
            <a:endParaRPr lang="en-US" sz="2200" dirty="0"/>
          </a:p>
        </p:txBody>
      </p:sp>
      <p:sp>
        <p:nvSpPr>
          <p:cNvPr id="31" name="Text 29"/>
          <p:cNvSpPr/>
          <p:nvPr/>
        </p:nvSpPr>
        <p:spPr>
          <a:xfrm>
            <a:off x="9601200" y="3520440"/>
            <a:ext cx="1874520" cy="457200"/>
          </a:xfrm>
          <a:prstGeom prst="rect">
            <a:avLst/>
          </a:prstGeom>
          <a:noFill/>
          <a:ln/>
        </p:spPr>
        <p:txBody>
          <a:bodyPr wrap="square" lIns="0" tIns="0" rIns="0" bIns="0" rtlCol="0" anchor="ctr"/>
          <a:lstStyle/>
          <a:p>
            <a:pPr algn="ctr" indent="0" marL="0">
              <a:buNone/>
            </a:pPr>
            <a:r>
              <a:rPr lang="en-US" sz="2100" b="1" dirty="0">
                <a:solidFill>
                  <a:srgbClr val="16202E"/>
                </a:solidFill>
                <a:latin typeface="Cambria" pitchFamily="34" charset="0"/>
                <a:ea typeface="Cambria" pitchFamily="34" charset="-122"/>
                <a:cs typeface="Cambria" pitchFamily="34" charset="-120"/>
              </a:rPr>
              <a:t>See</a:t>
            </a:r>
            <a:endParaRPr lang="en-US" sz="2100" dirty="0"/>
          </a:p>
        </p:txBody>
      </p:sp>
      <p:sp>
        <p:nvSpPr>
          <p:cNvPr id="32" name="Text 30"/>
          <p:cNvSpPr/>
          <p:nvPr/>
        </p:nvSpPr>
        <p:spPr>
          <a:xfrm>
            <a:off x="9692640" y="3977640"/>
            <a:ext cx="1691640" cy="777240"/>
          </a:xfrm>
          <a:prstGeom prst="rect">
            <a:avLst/>
          </a:prstGeom>
          <a:noFill/>
          <a:ln/>
        </p:spPr>
        <p:txBody>
          <a:bodyPr wrap="square" lIns="0" tIns="0" rIns="0" bIns="0" rtlCol="0" anchor="ctr"/>
          <a:lstStyle/>
          <a:p>
            <a:pPr algn="ctr" indent="0" marL="0">
              <a:lnSpc>
                <a:spcPct val="105000"/>
              </a:lnSpc>
              <a:buNone/>
            </a:pPr>
            <a:r>
              <a:rPr lang="en-US" sz="1300" dirty="0">
                <a:solidFill>
                  <a:srgbClr val="6B7A8D"/>
                </a:solidFill>
                <a:latin typeface="Calibri" pitchFamily="34" charset="0"/>
                <a:ea typeface="Calibri" pitchFamily="34" charset="-122"/>
                <a:cs typeface="Calibri" pitchFamily="34" charset="-120"/>
              </a:rPr>
              <a:t>Owner sees a live downtime dashboard</a:t>
            </a:r>
            <a:endParaRPr lang="en-US" sz="1300" dirty="0"/>
          </a:p>
        </p:txBody>
      </p:sp>
      <p:sp>
        <p:nvSpPr>
          <p:cNvPr id="33" name="Text 31"/>
          <p:cNvSpPr/>
          <p:nvPr/>
        </p:nvSpPr>
        <p:spPr>
          <a:xfrm>
            <a:off x="822960" y="5852160"/>
            <a:ext cx="10515600" cy="457200"/>
          </a:xfrm>
          <a:prstGeom prst="rect">
            <a:avLst/>
          </a:prstGeom>
          <a:noFill/>
          <a:ln/>
        </p:spPr>
        <p:txBody>
          <a:bodyPr wrap="square" lIns="0" tIns="0" rIns="0" bIns="0" rtlCol="0" anchor="ctr"/>
          <a:lstStyle/>
          <a:p>
            <a:pPr algn="ctr" indent="0" marL="0">
              <a:buNone/>
            </a:pPr>
            <a:r>
              <a:rPr lang="en-US" sz="1600" b="1" i="1" dirty="0">
                <a:solidFill>
                  <a:srgbClr val="C97E12"/>
                </a:solidFill>
                <a:latin typeface="Calibri" pitchFamily="34" charset="0"/>
                <a:ea typeface="Calibri" pitchFamily="34" charset="-122"/>
                <a:cs typeface="Calibri" pitchFamily="34" charset="-120"/>
              </a:rPr>
              <a:t>If the problem isn't real, none of this cleverness matters. So — back to the problem.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WHY THIS IS POSSIBLE NOW</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16202E"/>
                </a:solidFill>
                <a:latin typeface="Cambria" pitchFamily="34" charset="0"/>
                <a:ea typeface="Cambria" pitchFamily="34" charset="-122"/>
                <a:cs typeface="Cambria" pitchFamily="34" charset="-120"/>
              </a:rPr>
              <a:t>The adoption barrier is finally zero</a:t>
            </a:r>
            <a:endParaRPr lang="en-US" sz="3600" dirty="0"/>
          </a:p>
        </p:txBody>
      </p:sp>
      <p:sp>
        <p:nvSpPr>
          <p:cNvPr id="4" name="Shape 2"/>
          <p:cNvSpPr/>
          <p:nvPr/>
        </p:nvSpPr>
        <p:spPr>
          <a:xfrm>
            <a:off x="822960" y="2103120"/>
            <a:ext cx="10515600" cy="1170432"/>
          </a:xfrm>
          <a:prstGeom prst="roundRect">
            <a:avLst>
              <a:gd name="adj" fmla="val 7813"/>
            </a:avLst>
          </a:prstGeom>
          <a:solidFill>
            <a:srgbClr val="FFFFFF"/>
          </a:solidFill>
          <a:ln w="12700">
            <a:solidFill>
              <a:srgbClr val="DDE3EA"/>
            </a:solidFill>
            <a:prstDash val="solid"/>
          </a:ln>
        </p:spPr>
      </p:sp>
      <p:sp>
        <p:nvSpPr>
          <p:cNvPr id="5" name="Shape 3"/>
          <p:cNvSpPr/>
          <p:nvPr/>
        </p:nvSpPr>
        <p:spPr>
          <a:xfrm>
            <a:off x="1097280" y="2414016"/>
            <a:ext cx="548640" cy="548640"/>
          </a:xfrm>
          <a:prstGeom prst="ellipse">
            <a:avLst/>
          </a:prstGeom>
          <a:solidFill>
            <a:srgbClr val="F5A623"/>
          </a:solidFill>
          <a:ln/>
        </p:spPr>
      </p:sp>
      <p:sp>
        <p:nvSpPr>
          <p:cNvPr id="6" name="Text 4"/>
          <p:cNvSpPr/>
          <p:nvPr/>
        </p:nvSpPr>
        <p:spPr>
          <a:xfrm>
            <a:off x="1097280" y="2414016"/>
            <a:ext cx="548640" cy="548640"/>
          </a:xfrm>
          <a:prstGeom prst="rect">
            <a:avLst/>
          </a:prstGeom>
          <a:noFill/>
          <a:ln/>
        </p:spPr>
        <p:txBody>
          <a:bodyPr wrap="square" lIns="0" tIns="0" rIns="0" bIns="0" rtlCol="0" anchor="ctr"/>
          <a:lstStyle/>
          <a:p>
            <a:pPr algn="ctr" indent="0" marL="0">
              <a:buNone/>
            </a:pPr>
            <a:r>
              <a:rPr lang="en-US" sz="2000" b="1" dirty="0">
                <a:solidFill>
                  <a:srgbClr val="16202E"/>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874520" y="2240280"/>
            <a:ext cx="9052560" cy="457200"/>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WhatsApp is already a habit</a:t>
            </a:r>
            <a:endParaRPr lang="en-US" sz="1900" dirty="0"/>
          </a:p>
        </p:txBody>
      </p:sp>
      <p:sp>
        <p:nvSpPr>
          <p:cNvPr id="8" name="Text 6"/>
          <p:cNvSpPr/>
          <p:nvPr/>
        </p:nvSpPr>
        <p:spPr>
          <a:xfrm>
            <a:off x="1874520" y="2679192"/>
            <a:ext cx="9144000" cy="502920"/>
          </a:xfrm>
          <a:prstGeom prst="rect">
            <a:avLst/>
          </a:prstGeom>
          <a:noFill/>
          <a:ln/>
        </p:spPr>
        <p:txBody>
          <a:bodyPr wrap="square" lIns="0" tIns="0" rIns="0" bIns="0" rtlCol="0" anchor="ctr"/>
          <a:lstStyle/>
          <a:p>
            <a:pPr indent="0" marL="0">
              <a:buNone/>
            </a:pPr>
            <a:r>
              <a:rPr lang="en-US" sz="1450" dirty="0">
                <a:solidFill>
                  <a:srgbClr val="6B7A8D"/>
                </a:solidFill>
                <a:latin typeface="Calibri" pitchFamily="34" charset="0"/>
                <a:ea typeface="Calibri" pitchFamily="34" charset="-122"/>
                <a:cs typeface="Calibri" pitchFamily="34" charset="-120"/>
              </a:rPr>
              <a:t>Every worker lives on WhatsApp. No new app, no new behaviour to teach.</a:t>
            </a:r>
            <a:endParaRPr lang="en-US" sz="1450" dirty="0"/>
          </a:p>
        </p:txBody>
      </p:sp>
      <p:sp>
        <p:nvSpPr>
          <p:cNvPr id="9" name="Shape 7"/>
          <p:cNvSpPr/>
          <p:nvPr/>
        </p:nvSpPr>
        <p:spPr>
          <a:xfrm>
            <a:off x="822960" y="3438144"/>
            <a:ext cx="10515600" cy="1170432"/>
          </a:xfrm>
          <a:prstGeom prst="roundRect">
            <a:avLst>
              <a:gd name="adj" fmla="val 7813"/>
            </a:avLst>
          </a:prstGeom>
          <a:solidFill>
            <a:srgbClr val="FFFFFF"/>
          </a:solidFill>
          <a:ln w="12700">
            <a:solidFill>
              <a:srgbClr val="DDE3EA"/>
            </a:solidFill>
            <a:prstDash val="solid"/>
          </a:ln>
        </p:spPr>
      </p:sp>
      <p:sp>
        <p:nvSpPr>
          <p:cNvPr id="10" name="Shape 8"/>
          <p:cNvSpPr/>
          <p:nvPr/>
        </p:nvSpPr>
        <p:spPr>
          <a:xfrm>
            <a:off x="1097280" y="3749040"/>
            <a:ext cx="548640" cy="548640"/>
          </a:xfrm>
          <a:prstGeom prst="ellipse">
            <a:avLst/>
          </a:prstGeom>
          <a:solidFill>
            <a:srgbClr val="F5A623"/>
          </a:solidFill>
          <a:ln/>
        </p:spPr>
      </p:sp>
      <p:sp>
        <p:nvSpPr>
          <p:cNvPr id="11" name="Text 9"/>
          <p:cNvSpPr/>
          <p:nvPr/>
        </p:nvSpPr>
        <p:spPr>
          <a:xfrm>
            <a:off x="1097280" y="3749040"/>
            <a:ext cx="548640" cy="548640"/>
          </a:xfrm>
          <a:prstGeom prst="rect">
            <a:avLst/>
          </a:prstGeom>
          <a:noFill/>
          <a:ln/>
        </p:spPr>
        <p:txBody>
          <a:bodyPr wrap="square" lIns="0" tIns="0" rIns="0" bIns="0" rtlCol="0" anchor="ctr"/>
          <a:lstStyle/>
          <a:p>
            <a:pPr algn="ctr" indent="0" marL="0">
              <a:buNone/>
            </a:pPr>
            <a:r>
              <a:rPr lang="en-US" sz="2000" b="1" dirty="0">
                <a:solidFill>
                  <a:srgbClr val="16202E"/>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874520" y="3575304"/>
            <a:ext cx="9052560" cy="457200"/>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Voice + AI is now cheap</a:t>
            </a:r>
            <a:endParaRPr lang="en-US" sz="1900" dirty="0"/>
          </a:p>
        </p:txBody>
      </p:sp>
      <p:sp>
        <p:nvSpPr>
          <p:cNvPr id="13" name="Text 11"/>
          <p:cNvSpPr/>
          <p:nvPr/>
        </p:nvSpPr>
        <p:spPr>
          <a:xfrm>
            <a:off x="1874520" y="4014216"/>
            <a:ext cx="9144000" cy="502920"/>
          </a:xfrm>
          <a:prstGeom prst="rect">
            <a:avLst/>
          </a:prstGeom>
          <a:noFill/>
          <a:ln/>
        </p:spPr>
        <p:txBody>
          <a:bodyPr wrap="square" lIns="0" tIns="0" rIns="0" bIns="0" rtlCol="0" anchor="ctr"/>
          <a:lstStyle/>
          <a:p>
            <a:pPr indent="0" marL="0">
              <a:buNone/>
            </a:pPr>
            <a:r>
              <a:rPr lang="en-US" sz="1450" dirty="0">
                <a:solidFill>
                  <a:srgbClr val="6B7A8D"/>
                </a:solidFill>
                <a:latin typeface="Calibri" pitchFamily="34" charset="0"/>
                <a:ea typeface="Calibri" pitchFamily="34" charset="-122"/>
                <a:cs typeface="Calibri" pitchFamily="34" charset="-120"/>
              </a:rPr>
              <a:t>Transcribing and summarising a spoken report costs roughly ₹0.5 per ticket.</a:t>
            </a:r>
            <a:endParaRPr lang="en-US" sz="1450" dirty="0"/>
          </a:p>
        </p:txBody>
      </p:sp>
      <p:sp>
        <p:nvSpPr>
          <p:cNvPr id="14" name="Shape 12"/>
          <p:cNvSpPr/>
          <p:nvPr/>
        </p:nvSpPr>
        <p:spPr>
          <a:xfrm>
            <a:off x="822960" y="4773168"/>
            <a:ext cx="10515600" cy="1170432"/>
          </a:xfrm>
          <a:prstGeom prst="roundRect">
            <a:avLst>
              <a:gd name="adj" fmla="val 7813"/>
            </a:avLst>
          </a:prstGeom>
          <a:solidFill>
            <a:srgbClr val="FFFFFF"/>
          </a:solidFill>
          <a:ln w="12700">
            <a:solidFill>
              <a:srgbClr val="DDE3EA"/>
            </a:solidFill>
            <a:prstDash val="solid"/>
          </a:ln>
        </p:spPr>
      </p:sp>
      <p:sp>
        <p:nvSpPr>
          <p:cNvPr id="15" name="Shape 13"/>
          <p:cNvSpPr/>
          <p:nvPr/>
        </p:nvSpPr>
        <p:spPr>
          <a:xfrm>
            <a:off x="1097280" y="5084064"/>
            <a:ext cx="548640" cy="548640"/>
          </a:xfrm>
          <a:prstGeom prst="ellipse">
            <a:avLst/>
          </a:prstGeom>
          <a:solidFill>
            <a:srgbClr val="F5A623"/>
          </a:solidFill>
          <a:ln/>
        </p:spPr>
      </p:sp>
      <p:sp>
        <p:nvSpPr>
          <p:cNvPr id="16" name="Text 14"/>
          <p:cNvSpPr/>
          <p:nvPr/>
        </p:nvSpPr>
        <p:spPr>
          <a:xfrm>
            <a:off x="1097280" y="5084064"/>
            <a:ext cx="548640" cy="548640"/>
          </a:xfrm>
          <a:prstGeom prst="rect">
            <a:avLst/>
          </a:prstGeom>
          <a:noFill/>
          <a:ln/>
        </p:spPr>
        <p:txBody>
          <a:bodyPr wrap="square" lIns="0" tIns="0" rIns="0" bIns="0" rtlCol="0" anchor="ctr"/>
          <a:lstStyle/>
          <a:p>
            <a:pPr algn="ctr" indent="0" marL="0">
              <a:buNone/>
            </a:pPr>
            <a:r>
              <a:rPr lang="en-US" sz="2000" b="1" dirty="0">
                <a:solidFill>
                  <a:srgbClr val="16202E"/>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874520" y="4910328"/>
            <a:ext cx="9052560" cy="457200"/>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No new hardware</a:t>
            </a:r>
            <a:endParaRPr lang="en-US" sz="1900" dirty="0"/>
          </a:p>
        </p:txBody>
      </p:sp>
      <p:sp>
        <p:nvSpPr>
          <p:cNvPr id="18" name="Text 16"/>
          <p:cNvSpPr/>
          <p:nvPr/>
        </p:nvSpPr>
        <p:spPr>
          <a:xfrm>
            <a:off x="1874520" y="5349240"/>
            <a:ext cx="9144000" cy="502920"/>
          </a:xfrm>
          <a:prstGeom prst="rect">
            <a:avLst/>
          </a:prstGeom>
          <a:noFill/>
          <a:ln/>
        </p:spPr>
        <p:txBody>
          <a:bodyPr wrap="square" lIns="0" tIns="0" rIns="0" bIns="0" rtlCol="0" anchor="ctr"/>
          <a:lstStyle/>
          <a:p>
            <a:pPr indent="0" marL="0">
              <a:buNone/>
            </a:pPr>
            <a:r>
              <a:rPr lang="en-US" sz="1450" dirty="0">
                <a:solidFill>
                  <a:srgbClr val="6B7A8D"/>
                </a:solidFill>
                <a:latin typeface="Calibri" pitchFamily="34" charset="0"/>
                <a:ea typeface="Calibri" pitchFamily="34" charset="-122"/>
                <a:cs typeface="Calibri" pitchFamily="34" charset="-120"/>
              </a:rPr>
              <a:t>Just a printed QR sticker on the machine. Nothing to install or maintain.</a:t>
            </a:r>
            <a:endParaRPr lang="en-US" sz="1450" dirty="0"/>
          </a:p>
        </p:txBody>
      </p:sp>
      <p:sp>
        <p:nvSpPr>
          <p:cNvPr id="19" name="Text 17"/>
          <p:cNvSpPr/>
          <p:nvPr/>
        </p:nvSpPr>
        <p:spPr>
          <a:xfrm>
            <a:off x="822960" y="6263640"/>
            <a:ext cx="10515600" cy="411480"/>
          </a:xfrm>
          <a:prstGeom prst="rect">
            <a:avLst/>
          </a:prstGeom>
          <a:noFill/>
          <a:ln/>
        </p:spPr>
        <p:txBody>
          <a:bodyPr wrap="square" lIns="0" tIns="0" rIns="0" bIns="0" rtlCol="0" anchor="ctr"/>
          <a:lstStyle/>
          <a:p>
            <a:pPr indent="0" marL="0">
              <a:buNone/>
            </a:pPr>
            <a:r>
              <a:rPr lang="en-US" sz="1500" b="1" i="1" dirty="0">
                <a:solidFill>
                  <a:srgbClr val="C97E12"/>
                </a:solidFill>
                <a:latin typeface="Calibri" pitchFamily="34" charset="0"/>
                <a:ea typeface="Calibri" pitchFamily="34" charset="-122"/>
                <a:cs typeface="Calibri" pitchFamily="34" charset="-120"/>
              </a:rPr>
              <a:t>This is what killed every earlier tool. Does that ring true — or will workers still resist?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THE MOST IMPORTANT SLIDE</a:t>
            </a:r>
            <a:endParaRPr lang="en-US" sz="1250" dirty="0"/>
          </a:p>
        </p:txBody>
      </p:sp>
      <p:sp>
        <p:nvSpPr>
          <p:cNvPr id="3" name="Text 1"/>
          <p:cNvSpPr/>
          <p:nvPr/>
        </p:nvSpPr>
        <p:spPr>
          <a:xfrm>
            <a:off x="822960" y="914400"/>
            <a:ext cx="107899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Why this might be the WRONG problem</a:t>
            </a:r>
            <a:endParaRPr lang="en-US" sz="3600" dirty="0"/>
          </a:p>
        </p:txBody>
      </p:sp>
      <p:sp>
        <p:nvSpPr>
          <p:cNvPr id="4" name="Shape 2"/>
          <p:cNvSpPr/>
          <p:nvPr/>
        </p:nvSpPr>
        <p:spPr>
          <a:xfrm>
            <a:off x="822960" y="2103120"/>
            <a:ext cx="3383280" cy="2880360"/>
          </a:xfrm>
          <a:prstGeom prst="roundRect">
            <a:avLst>
              <a:gd name="adj" fmla="val 3810"/>
            </a:avLst>
          </a:prstGeom>
          <a:solidFill>
            <a:srgbClr val="2C3E52"/>
          </a:solidFill>
          <a:ln/>
        </p:spPr>
      </p:sp>
      <p:sp>
        <p:nvSpPr>
          <p:cNvPr id="5" name="Text 3"/>
          <p:cNvSpPr/>
          <p:nvPr/>
        </p:nvSpPr>
        <p:spPr>
          <a:xfrm>
            <a:off x="1188720" y="2377440"/>
            <a:ext cx="640080" cy="640080"/>
          </a:xfrm>
          <a:prstGeom prst="rect">
            <a:avLst/>
          </a:prstGeom>
          <a:noFill/>
          <a:ln/>
        </p:spPr>
        <p:txBody>
          <a:bodyPr wrap="square" lIns="0" tIns="0" rIns="0" bIns="0" rtlCol="0" anchor="ctr"/>
          <a:lstStyle/>
          <a:p>
            <a:pPr algn="ctr" indent="0" marL="0">
              <a:buNone/>
            </a:pPr>
            <a:r>
              <a:rPr lang="en-US" sz="3000" b="1" dirty="0">
                <a:solidFill>
                  <a:srgbClr val="F5A623"/>
                </a:solidFill>
                <a:latin typeface="Cambria" pitchFamily="34" charset="0"/>
                <a:ea typeface="Cambria" pitchFamily="34" charset="-122"/>
                <a:cs typeface="Cambria" pitchFamily="34" charset="-120"/>
              </a:rPr>
              <a:t>!</a:t>
            </a:r>
            <a:endParaRPr lang="en-US" sz="3000" dirty="0"/>
          </a:p>
        </p:txBody>
      </p:sp>
      <p:sp>
        <p:nvSpPr>
          <p:cNvPr id="6" name="Shape 4"/>
          <p:cNvSpPr/>
          <p:nvPr/>
        </p:nvSpPr>
        <p:spPr>
          <a:xfrm>
            <a:off x="1188720" y="2377440"/>
            <a:ext cx="640080" cy="640080"/>
          </a:xfrm>
          <a:prstGeom prst="ellipse">
            <a:avLst/>
          </a:prstGeom>
          <a:ln w="25400">
            <a:solidFill>
              <a:srgbClr val="F5A623"/>
            </a:solidFill>
            <a:prstDash val="solid"/>
          </a:ln>
        </p:spPr>
      </p:sp>
      <p:sp>
        <p:nvSpPr>
          <p:cNvPr id="7" name="Text 5"/>
          <p:cNvSpPr/>
          <p:nvPr/>
        </p:nvSpPr>
        <p:spPr>
          <a:xfrm>
            <a:off x="1188720" y="3200400"/>
            <a:ext cx="26517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“We manage fine”</a:t>
            </a:r>
            <a:endParaRPr lang="en-US" sz="2000" dirty="0"/>
          </a:p>
        </p:txBody>
      </p:sp>
      <p:sp>
        <p:nvSpPr>
          <p:cNvPr id="8" name="Text 6"/>
          <p:cNvSpPr/>
          <p:nvPr/>
        </p:nvSpPr>
        <p:spPr>
          <a:xfrm>
            <a:off x="1188720" y="3749040"/>
            <a:ext cx="2651760" cy="1143000"/>
          </a:xfrm>
          <a:prstGeom prst="rect">
            <a:avLst/>
          </a:prstGeom>
          <a:noFill/>
          <a:ln/>
        </p:spPr>
        <p:txBody>
          <a:bodyPr wrap="square" lIns="0" tIns="0" rIns="0" bIns="0" rtlCol="0" anchor="ctr"/>
          <a:lstStyle/>
          <a:p>
            <a:pPr indent="0" marL="0">
              <a:lnSpc>
                <a:spcPct val="115000"/>
              </a:lnSpc>
              <a:buNone/>
            </a:pPr>
            <a:r>
              <a:rPr lang="en-US" sz="1450" dirty="0">
                <a:solidFill>
                  <a:srgbClr val="C7D2DE"/>
                </a:solidFill>
                <a:latin typeface="Calibri" pitchFamily="34" charset="0"/>
                <a:ea typeface="Calibri" pitchFamily="34" charset="-122"/>
                <a:cs typeface="Calibri" pitchFamily="34" charset="-120"/>
              </a:rPr>
              <a:t>Owners may already tolerate downtime as the cost of doing business.</a:t>
            </a:r>
            <a:endParaRPr lang="en-US" sz="1450" dirty="0"/>
          </a:p>
        </p:txBody>
      </p:sp>
      <p:sp>
        <p:nvSpPr>
          <p:cNvPr id="9" name="Shape 7"/>
          <p:cNvSpPr/>
          <p:nvPr/>
        </p:nvSpPr>
        <p:spPr>
          <a:xfrm>
            <a:off x="4526280" y="2103120"/>
            <a:ext cx="3383280" cy="2880360"/>
          </a:xfrm>
          <a:prstGeom prst="roundRect">
            <a:avLst>
              <a:gd name="adj" fmla="val 3810"/>
            </a:avLst>
          </a:prstGeom>
          <a:solidFill>
            <a:srgbClr val="2C3E52"/>
          </a:solidFill>
          <a:ln/>
        </p:spPr>
      </p:sp>
      <p:sp>
        <p:nvSpPr>
          <p:cNvPr id="10" name="Text 8"/>
          <p:cNvSpPr/>
          <p:nvPr/>
        </p:nvSpPr>
        <p:spPr>
          <a:xfrm>
            <a:off x="4892040" y="2377440"/>
            <a:ext cx="640080" cy="640080"/>
          </a:xfrm>
          <a:prstGeom prst="rect">
            <a:avLst/>
          </a:prstGeom>
          <a:noFill/>
          <a:ln/>
        </p:spPr>
        <p:txBody>
          <a:bodyPr wrap="square" lIns="0" tIns="0" rIns="0" bIns="0" rtlCol="0" anchor="ctr"/>
          <a:lstStyle/>
          <a:p>
            <a:pPr algn="ctr" indent="0" marL="0">
              <a:buNone/>
            </a:pPr>
            <a:r>
              <a:rPr lang="en-US" sz="3000" b="1" dirty="0">
                <a:solidFill>
                  <a:srgbClr val="F5A623"/>
                </a:solidFill>
                <a:latin typeface="Cambria" pitchFamily="34" charset="0"/>
                <a:ea typeface="Cambria" pitchFamily="34" charset="-122"/>
                <a:cs typeface="Cambria" pitchFamily="34" charset="-120"/>
              </a:rPr>
              <a:t>!</a:t>
            </a:r>
            <a:endParaRPr lang="en-US" sz="3000" dirty="0"/>
          </a:p>
        </p:txBody>
      </p:sp>
      <p:sp>
        <p:nvSpPr>
          <p:cNvPr id="11" name="Shape 9"/>
          <p:cNvSpPr/>
          <p:nvPr/>
        </p:nvSpPr>
        <p:spPr>
          <a:xfrm>
            <a:off x="4892040" y="2377440"/>
            <a:ext cx="640080" cy="640080"/>
          </a:xfrm>
          <a:prstGeom prst="ellipse">
            <a:avLst/>
          </a:prstGeom>
          <a:ln w="25400">
            <a:solidFill>
              <a:srgbClr val="F5A623"/>
            </a:solidFill>
            <a:prstDash val="solid"/>
          </a:ln>
        </p:spPr>
      </p:sp>
      <p:sp>
        <p:nvSpPr>
          <p:cNvPr id="12" name="Text 10"/>
          <p:cNvSpPr/>
          <p:nvPr/>
        </p:nvSpPr>
        <p:spPr>
          <a:xfrm>
            <a:off x="4892040" y="3200400"/>
            <a:ext cx="26517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Wrong bottleneck</a:t>
            </a:r>
            <a:endParaRPr lang="en-US" sz="2000" dirty="0"/>
          </a:p>
        </p:txBody>
      </p:sp>
      <p:sp>
        <p:nvSpPr>
          <p:cNvPr id="13" name="Text 11"/>
          <p:cNvSpPr/>
          <p:nvPr/>
        </p:nvSpPr>
        <p:spPr>
          <a:xfrm>
            <a:off x="4892040" y="3749040"/>
            <a:ext cx="2651760" cy="1143000"/>
          </a:xfrm>
          <a:prstGeom prst="rect">
            <a:avLst/>
          </a:prstGeom>
          <a:noFill/>
          <a:ln/>
        </p:spPr>
        <p:txBody>
          <a:bodyPr wrap="square" lIns="0" tIns="0" rIns="0" bIns="0" rtlCol="0" anchor="ctr"/>
          <a:lstStyle/>
          <a:p>
            <a:pPr indent="0" marL="0">
              <a:lnSpc>
                <a:spcPct val="115000"/>
              </a:lnSpc>
              <a:buNone/>
            </a:pPr>
            <a:r>
              <a:rPr lang="en-US" sz="1450" dirty="0">
                <a:solidFill>
                  <a:srgbClr val="C7D2DE"/>
                </a:solidFill>
                <a:latin typeface="Calibri" pitchFamily="34" charset="0"/>
                <a:ea typeface="Calibri" pitchFamily="34" charset="-122"/>
                <a:cs typeface="Calibri" pitchFamily="34" charset="-120"/>
              </a:rPr>
              <a:t>The real pain might be spare parts or technician skill — not reporting.</a:t>
            </a:r>
            <a:endParaRPr lang="en-US" sz="1450" dirty="0"/>
          </a:p>
        </p:txBody>
      </p:sp>
      <p:sp>
        <p:nvSpPr>
          <p:cNvPr id="14" name="Shape 12"/>
          <p:cNvSpPr/>
          <p:nvPr/>
        </p:nvSpPr>
        <p:spPr>
          <a:xfrm>
            <a:off x="8229600" y="2103120"/>
            <a:ext cx="3383280" cy="2880360"/>
          </a:xfrm>
          <a:prstGeom prst="roundRect">
            <a:avLst>
              <a:gd name="adj" fmla="val 3810"/>
            </a:avLst>
          </a:prstGeom>
          <a:solidFill>
            <a:srgbClr val="2C3E52"/>
          </a:solidFill>
          <a:ln/>
        </p:spPr>
      </p:sp>
      <p:sp>
        <p:nvSpPr>
          <p:cNvPr id="15" name="Text 13"/>
          <p:cNvSpPr/>
          <p:nvPr/>
        </p:nvSpPr>
        <p:spPr>
          <a:xfrm>
            <a:off x="8595360" y="2377440"/>
            <a:ext cx="640080" cy="640080"/>
          </a:xfrm>
          <a:prstGeom prst="rect">
            <a:avLst/>
          </a:prstGeom>
          <a:noFill/>
          <a:ln/>
        </p:spPr>
        <p:txBody>
          <a:bodyPr wrap="square" lIns="0" tIns="0" rIns="0" bIns="0" rtlCol="0" anchor="ctr"/>
          <a:lstStyle/>
          <a:p>
            <a:pPr algn="ctr" indent="0" marL="0">
              <a:buNone/>
            </a:pPr>
            <a:r>
              <a:rPr lang="en-US" sz="3000" b="1" dirty="0">
                <a:solidFill>
                  <a:srgbClr val="F5A623"/>
                </a:solidFill>
                <a:latin typeface="Cambria" pitchFamily="34" charset="0"/>
                <a:ea typeface="Cambria" pitchFamily="34" charset="-122"/>
                <a:cs typeface="Cambria" pitchFamily="34" charset="-120"/>
              </a:rPr>
              <a:t>!</a:t>
            </a:r>
            <a:endParaRPr lang="en-US" sz="3000" dirty="0"/>
          </a:p>
        </p:txBody>
      </p:sp>
      <p:sp>
        <p:nvSpPr>
          <p:cNvPr id="16" name="Shape 14"/>
          <p:cNvSpPr/>
          <p:nvPr/>
        </p:nvSpPr>
        <p:spPr>
          <a:xfrm>
            <a:off x="8595360" y="2377440"/>
            <a:ext cx="640080" cy="640080"/>
          </a:xfrm>
          <a:prstGeom prst="ellipse">
            <a:avLst/>
          </a:prstGeom>
          <a:ln w="25400">
            <a:solidFill>
              <a:srgbClr val="F5A623"/>
            </a:solidFill>
            <a:prstDash val="solid"/>
          </a:ln>
        </p:spPr>
      </p:sp>
      <p:sp>
        <p:nvSpPr>
          <p:cNvPr id="17" name="Text 15"/>
          <p:cNvSpPr/>
          <p:nvPr/>
        </p:nvSpPr>
        <p:spPr>
          <a:xfrm>
            <a:off x="8595360" y="3200400"/>
            <a:ext cx="26517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Habit wins</a:t>
            </a:r>
            <a:endParaRPr lang="en-US" sz="2000" dirty="0"/>
          </a:p>
        </p:txBody>
      </p:sp>
      <p:sp>
        <p:nvSpPr>
          <p:cNvPr id="18" name="Text 16"/>
          <p:cNvSpPr/>
          <p:nvPr/>
        </p:nvSpPr>
        <p:spPr>
          <a:xfrm>
            <a:off x="8595360" y="3749040"/>
            <a:ext cx="2651760" cy="1143000"/>
          </a:xfrm>
          <a:prstGeom prst="rect">
            <a:avLst/>
          </a:prstGeom>
          <a:noFill/>
          <a:ln/>
        </p:spPr>
        <p:txBody>
          <a:bodyPr wrap="square" lIns="0" tIns="0" rIns="0" bIns="0" rtlCol="0" anchor="ctr"/>
          <a:lstStyle/>
          <a:p>
            <a:pPr indent="0" marL="0">
              <a:lnSpc>
                <a:spcPct val="115000"/>
              </a:lnSpc>
              <a:buNone/>
            </a:pPr>
            <a:r>
              <a:rPr lang="en-US" sz="1450" dirty="0">
                <a:solidFill>
                  <a:srgbClr val="C7D2DE"/>
                </a:solidFill>
                <a:latin typeface="Calibri" pitchFamily="34" charset="0"/>
                <a:ea typeface="Calibri" pitchFamily="34" charset="-122"/>
                <a:cs typeface="Calibri" pitchFamily="34" charset="-120"/>
              </a:rPr>
              <a:t>“We already handle it on WhatsApp / in the register.” Why change?</a:t>
            </a:r>
            <a:endParaRPr lang="en-US" sz="1450" dirty="0"/>
          </a:p>
        </p:txBody>
      </p:sp>
      <p:sp>
        <p:nvSpPr>
          <p:cNvPr id="19" name="Text 17"/>
          <p:cNvSpPr/>
          <p:nvPr/>
        </p:nvSpPr>
        <p:spPr>
          <a:xfrm>
            <a:off x="822960" y="5349240"/>
            <a:ext cx="10515600" cy="822960"/>
          </a:xfrm>
          <a:prstGeom prst="rect">
            <a:avLst/>
          </a:prstGeom>
          <a:noFill/>
          <a:ln/>
        </p:spPr>
        <p:txBody>
          <a:bodyPr wrap="square" lIns="0" tIns="0" rIns="0" bIns="0" rtlCol="0" anchor="t"/>
          <a:lstStyle/>
          <a:p>
            <a:pPr algn="ctr" indent="0" marL="0">
              <a:buNone/>
            </a:pPr>
            <a:r>
              <a:rPr lang="en-US" sz="1700" b="1" i="1" dirty="0">
                <a:solidFill>
                  <a:srgbClr val="F5A623"/>
                </a:solidFill>
                <a:latin typeface="Calibri" pitchFamily="34" charset="0"/>
                <a:ea typeface="Calibri" pitchFamily="34" charset="-122"/>
                <a:cs typeface="Calibri" pitchFamily="34" charset="-120"/>
              </a:rPr>
              <a:t>Which of these worries you most? If it's parts or skill, I'm solving a symptom — not the disease.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94360"/>
            <a:ext cx="7315200" cy="320040"/>
          </a:xfrm>
          <a:prstGeom prst="rect">
            <a:avLst/>
          </a:prstGeom>
          <a:noFill/>
          <a:ln/>
        </p:spPr>
        <p:txBody>
          <a:bodyPr wrap="square" lIns="0" tIns="0" rIns="0" bIns="0" rtlCol="0" anchor="ctr"/>
          <a:lstStyle/>
          <a:p>
            <a:pPr indent="0" marL="0">
              <a:buNone/>
            </a:pPr>
            <a:r>
              <a:rPr lang="en-US" sz="1250" b="1" spc="300" kern="0" dirty="0">
                <a:solidFill>
                  <a:srgbClr val="F5A623"/>
                </a:solidFill>
                <a:latin typeface="Calibri" pitchFamily="34" charset="0"/>
                <a:ea typeface="Calibri" pitchFamily="34" charset="-122"/>
                <a:cs typeface="Calibri" pitchFamily="34" charset="-120"/>
              </a:rPr>
              <a:t>MY ASK</a:t>
            </a:r>
            <a:endParaRPr lang="en-US" sz="1250" dirty="0"/>
          </a:p>
        </p:txBody>
      </p:sp>
      <p:sp>
        <p:nvSpPr>
          <p:cNvPr id="3" name="Text 1"/>
          <p:cNvSpPr/>
          <p:nvPr/>
        </p:nvSpPr>
        <p:spPr>
          <a:xfrm>
            <a:off x="822960" y="914400"/>
            <a:ext cx="10515600" cy="731520"/>
          </a:xfrm>
          <a:prstGeom prst="rect">
            <a:avLst/>
          </a:prstGeom>
          <a:noFill/>
          <a:ln/>
        </p:spPr>
        <p:txBody>
          <a:bodyPr wrap="square" lIns="0" tIns="0" rIns="0" bIns="0" rtlCol="0" anchor="ctr"/>
          <a:lstStyle/>
          <a:p>
            <a:pPr indent="0" marL="0">
              <a:buNone/>
            </a:pPr>
            <a:r>
              <a:rPr lang="en-US" sz="4000" b="1" dirty="0">
                <a:solidFill>
                  <a:srgbClr val="16202E"/>
                </a:solidFill>
                <a:latin typeface="Cambria" pitchFamily="34" charset="0"/>
                <a:ea typeface="Cambria" pitchFamily="34" charset="-122"/>
                <a:cs typeface="Cambria" pitchFamily="34" charset="-120"/>
              </a:rPr>
              <a:t>Three questions for you</a:t>
            </a:r>
            <a:endParaRPr lang="en-US" sz="4000" dirty="0"/>
          </a:p>
        </p:txBody>
      </p:sp>
      <p:sp>
        <p:nvSpPr>
          <p:cNvPr id="4" name="Shape 2"/>
          <p:cNvSpPr/>
          <p:nvPr/>
        </p:nvSpPr>
        <p:spPr>
          <a:xfrm>
            <a:off x="822960" y="2011680"/>
            <a:ext cx="10515600" cy="1234440"/>
          </a:xfrm>
          <a:prstGeom prst="roundRect">
            <a:avLst>
              <a:gd name="adj" fmla="val 7407"/>
            </a:avLst>
          </a:prstGeom>
          <a:solidFill>
            <a:srgbClr val="F3F5F8"/>
          </a:solidFill>
          <a:ln/>
        </p:spPr>
      </p:sp>
      <p:sp>
        <p:nvSpPr>
          <p:cNvPr id="5" name="Shape 3"/>
          <p:cNvSpPr/>
          <p:nvPr/>
        </p:nvSpPr>
        <p:spPr>
          <a:xfrm>
            <a:off x="1097280" y="2350008"/>
            <a:ext cx="566928" cy="566928"/>
          </a:xfrm>
          <a:prstGeom prst="ellipse">
            <a:avLst/>
          </a:prstGeom>
          <a:solidFill>
            <a:srgbClr val="F5A623"/>
          </a:solidFill>
          <a:ln/>
        </p:spPr>
      </p:sp>
      <p:sp>
        <p:nvSpPr>
          <p:cNvPr id="6" name="Text 4"/>
          <p:cNvSpPr/>
          <p:nvPr/>
        </p:nvSpPr>
        <p:spPr>
          <a:xfrm>
            <a:off x="1097280" y="2350008"/>
            <a:ext cx="566928" cy="566928"/>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920240" y="2194560"/>
            <a:ext cx="3657600" cy="868680"/>
          </a:xfrm>
          <a:prstGeom prst="rect">
            <a:avLst/>
          </a:prstGeom>
          <a:noFill/>
          <a:ln/>
        </p:spPr>
        <p:txBody>
          <a:bodyPr wrap="square" lIns="0" tIns="0" rIns="0" bIns="0" rtlCol="0" anchor="ctr"/>
          <a:lstStyle/>
          <a:p>
            <a:pPr indent="0" marL="0">
              <a:buNone/>
            </a:pPr>
            <a:r>
              <a:rPr lang="en-US" sz="2100" b="1" dirty="0">
                <a:solidFill>
                  <a:srgbClr val="C97E12"/>
                </a:solidFill>
                <a:latin typeface="Cambria" pitchFamily="34" charset="0"/>
                <a:ea typeface="Cambria" pitchFamily="34" charset="-122"/>
                <a:cs typeface="Cambria" pitchFamily="34" charset="-120"/>
              </a:rPr>
              <a:t>Is it real?</a:t>
            </a:r>
            <a:endParaRPr lang="en-US" sz="2100" dirty="0"/>
          </a:p>
        </p:txBody>
      </p:sp>
      <p:sp>
        <p:nvSpPr>
          <p:cNvPr id="8" name="Text 6"/>
          <p:cNvSpPr/>
          <p:nvPr/>
        </p:nvSpPr>
        <p:spPr>
          <a:xfrm>
            <a:off x="5120640" y="2194560"/>
            <a:ext cx="6035040" cy="868680"/>
          </a:xfrm>
          <a:prstGeom prst="rect">
            <a:avLst/>
          </a:prstGeom>
          <a:noFill/>
          <a:ln/>
        </p:spPr>
        <p:txBody>
          <a:bodyPr wrap="square" lIns="0" tIns="0" rIns="0" bIns="0" rtlCol="0" anchor="ctr"/>
          <a:lstStyle/>
          <a:p>
            <a:pPr indent="0" marL="0">
              <a:lnSpc>
                <a:spcPct val="110000"/>
              </a:lnSpc>
              <a:buNone/>
            </a:pPr>
            <a:r>
              <a:rPr lang="en-US" sz="1550" dirty="0">
                <a:solidFill>
                  <a:srgbClr val="3A4A5E"/>
                </a:solidFill>
                <a:latin typeface="Calibri" pitchFamily="34" charset="0"/>
                <a:ea typeface="Calibri" pitchFamily="34" charset="-122"/>
                <a:cs typeface="Calibri" pitchFamily="34" charset="-120"/>
              </a:rPr>
              <a:t>Is the reporting and visibility gap a genuinely painful problem for a mid-size factory owner?</a:t>
            </a:r>
            <a:endParaRPr lang="en-US" sz="1550" dirty="0"/>
          </a:p>
        </p:txBody>
      </p:sp>
      <p:sp>
        <p:nvSpPr>
          <p:cNvPr id="9" name="Shape 7"/>
          <p:cNvSpPr/>
          <p:nvPr/>
        </p:nvSpPr>
        <p:spPr>
          <a:xfrm>
            <a:off x="822960" y="3401568"/>
            <a:ext cx="10515600" cy="1234440"/>
          </a:xfrm>
          <a:prstGeom prst="roundRect">
            <a:avLst>
              <a:gd name="adj" fmla="val 7407"/>
            </a:avLst>
          </a:prstGeom>
          <a:solidFill>
            <a:srgbClr val="F3F5F8"/>
          </a:solidFill>
          <a:ln/>
        </p:spPr>
      </p:sp>
      <p:sp>
        <p:nvSpPr>
          <p:cNvPr id="10" name="Shape 8"/>
          <p:cNvSpPr/>
          <p:nvPr/>
        </p:nvSpPr>
        <p:spPr>
          <a:xfrm>
            <a:off x="1097280" y="3739896"/>
            <a:ext cx="566928" cy="566928"/>
          </a:xfrm>
          <a:prstGeom prst="ellipse">
            <a:avLst/>
          </a:prstGeom>
          <a:solidFill>
            <a:srgbClr val="F5A623"/>
          </a:solidFill>
          <a:ln/>
        </p:spPr>
      </p:sp>
      <p:sp>
        <p:nvSpPr>
          <p:cNvPr id="11" name="Text 9"/>
          <p:cNvSpPr/>
          <p:nvPr/>
        </p:nvSpPr>
        <p:spPr>
          <a:xfrm>
            <a:off x="1097280" y="3739896"/>
            <a:ext cx="566928" cy="566928"/>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1920240" y="3584448"/>
            <a:ext cx="3657600" cy="868680"/>
          </a:xfrm>
          <a:prstGeom prst="rect">
            <a:avLst/>
          </a:prstGeom>
          <a:noFill/>
          <a:ln/>
        </p:spPr>
        <p:txBody>
          <a:bodyPr wrap="square" lIns="0" tIns="0" rIns="0" bIns="0" rtlCol="0" anchor="ctr"/>
          <a:lstStyle/>
          <a:p>
            <a:pPr indent="0" marL="0">
              <a:buNone/>
            </a:pPr>
            <a:r>
              <a:rPr lang="en-US" sz="2100" b="1" dirty="0">
                <a:solidFill>
                  <a:srgbClr val="C97E12"/>
                </a:solidFill>
                <a:latin typeface="Cambria" pitchFamily="34" charset="0"/>
                <a:ea typeface="Cambria" pitchFamily="34" charset="-122"/>
                <a:cs typeface="Cambria" pitchFamily="34" charset="-120"/>
              </a:rPr>
              <a:t>If not — what is?</a:t>
            </a:r>
            <a:endParaRPr lang="en-US" sz="2100" dirty="0"/>
          </a:p>
        </p:txBody>
      </p:sp>
      <p:sp>
        <p:nvSpPr>
          <p:cNvPr id="13" name="Text 11"/>
          <p:cNvSpPr/>
          <p:nvPr/>
        </p:nvSpPr>
        <p:spPr>
          <a:xfrm>
            <a:off x="5120640" y="3584448"/>
            <a:ext cx="6035040" cy="868680"/>
          </a:xfrm>
          <a:prstGeom prst="rect">
            <a:avLst/>
          </a:prstGeom>
          <a:noFill/>
          <a:ln/>
        </p:spPr>
        <p:txBody>
          <a:bodyPr wrap="square" lIns="0" tIns="0" rIns="0" bIns="0" rtlCol="0" anchor="ctr"/>
          <a:lstStyle/>
          <a:p>
            <a:pPr indent="0" marL="0">
              <a:lnSpc>
                <a:spcPct val="110000"/>
              </a:lnSpc>
              <a:buNone/>
            </a:pPr>
            <a:r>
              <a:rPr lang="en-US" sz="1550" dirty="0">
                <a:solidFill>
                  <a:srgbClr val="3A4A5E"/>
                </a:solidFill>
                <a:latin typeface="Calibri" pitchFamily="34" charset="0"/>
                <a:ea typeface="Calibri" pitchFamily="34" charset="-122"/>
                <a:cs typeface="Calibri" pitchFamily="34" charset="-120"/>
              </a:rPr>
              <a:t>If I've picked the wrong pain, what is the bigger one you would solve instead?</a:t>
            </a:r>
            <a:endParaRPr lang="en-US" sz="1550" dirty="0"/>
          </a:p>
        </p:txBody>
      </p:sp>
      <p:sp>
        <p:nvSpPr>
          <p:cNvPr id="14" name="Shape 12"/>
          <p:cNvSpPr/>
          <p:nvPr/>
        </p:nvSpPr>
        <p:spPr>
          <a:xfrm>
            <a:off x="822960" y="4791456"/>
            <a:ext cx="10515600" cy="1234440"/>
          </a:xfrm>
          <a:prstGeom prst="roundRect">
            <a:avLst>
              <a:gd name="adj" fmla="val 7407"/>
            </a:avLst>
          </a:prstGeom>
          <a:solidFill>
            <a:srgbClr val="F3F5F8"/>
          </a:solidFill>
          <a:ln/>
        </p:spPr>
      </p:sp>
      <p:sp>
        <p:nvSpPr>
          <p:cNvPr id="15" name="Shape 13"/>
          <p:cNvSpPr/>
          <p:nvPr/>
        </p:nvSpPr>
        <p:spPr>
          <a:xfrm>
            <a:off x="1097280" y="5129784"/>
            <a:ext cx="566928" cy="566928"/>
          </a:xfrm>
          <a:prstGeom prst="ellipse">
            <a:avLst/>
          </a:prstGeom>
          <a:solidFill>
            <a:srgbClr val="F5A623"/>
          </a:solidFill>
          <a:ln/>
        </p:spPr>
      </p:sp>
      <p:sp>
        <p:nvSpPr>
          <p:cNvPr id="16" name="Text 14"/>
          <p:cNvSpPr/>
          <p:nvPr/>
        </p:nvSpPr>
        <p:spPr>
          <a:xfrm>
            <a:off x="1097280" y="5129784"/>
            <a:ext cx="566928" cy="566928"/>
          </a:xfrm>
          <a:prstGeom prst="rect">
            <a:avLst/>
          </a:prstGeom>
          <a:noFill/>
          <a:ln/>
        </p:spPr>
        <p:txBody>
          <a:bodyPr wrap="square" lIns="0" tIns="0" rIns="0" bIns="0" rtlCol="0" anchor="ctr"/>
          <a:lstStyle/>
          <a:p>
            <a:pPr algn="ctr" indent="0" marL="0">
              <a:buNone/>
            </a:pPr>
            <a:r>
              <a:rPr lang="en-US" sz="2200" b="1" dirty="0">
                <a:solidFill>
                  <a:srgbClr val="16202E"/>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920240" y="4974336"/>
            <a:ext cx="3657600" cy="868680"/>
          </a:xfrm>
          <a:prstGeom prst="rect">
            <a:avLst/>
          </a:prstGeom>
          <a:noFill/>
          <a:ln/>
        </p:spPr>
        <p:txBody>
          <a:bodyPr wrap="square" lIns="0" tIns="0" rIns="0" bIns="0" rtlCol="0" anchor="ctr"/>
          <a:lstStyle/>
          <a:p>
            <a:pPr indent="0" marL="0">
              <a:buNone/>
            </a:pPr>
            <a:r>
              <a:rPr lang="en-US" sz="2100" b="1" dirty="0">
                <a:solidFill>
                  <a:srgbClr val="C97E12"/>
                </a:solidFill>
                <a:latin typeface="Cambria" pitchFamily="34" charset="0"/>
                <a:ea typeface="Cambria" pitchFamily="34" charset="-122"/>
                <a:cs typeface="Cambria" pitchFamily="34" charset="-120"/>
              </a:rPr>
              <a:t>Who do I talk to?</a:t>
            </a:r>
            <a:endParaRPr lang="en-US" sz="2100" dirty="0"/>
          </a:p>
        </p:txBody>
      </p:sp>
      <p:sp>
        <p:nvSpPr>
          <p:cNvPr id="18" name="Text 16"/>
          <p:cNvSpPr/>
          <p:nvPr/>
        </p:nvSpPr>
        <p:spPr>
          <a:xfrm>
            <a:off x="5120640" y="4974336"/>
            <a:ext cx="6035040" cy="868680"/>
          </a:xfrm>
          <a:prstGeom prst="rect">
            <a:avLst/>
          </a:prstGeom>
          <a:noFill/>
          <a:ln/>
        </p:spPr>
        <p:txBody>
          <a:bodyPr wrap="square" lIns="0" tIns="0" rIns="0" bIns="0" rtlCol="0" anchor="ctr"/>
          <a:lstStyle/>
          <a:p>
            <a:pPr indent="0" marL="0">
              <a:lnSpc>
                <a:spcPct val="110000"/>
              </a:lnSpc>
              <a:buNone/>
            </a:pPr>
            <a:r>
              <a:rPr lang="en-US" sz="1550" dirty="0">
                <a:solidFill>
                  <a:srgbClr val="3A4A5E"/>
                </a:solidFill>
                <a:latin typeface="Calibri" pitchFamily="34" charset="0"/>
                <a:ea typeface="Calibri" pitchFamily="34" charset="-122"/>
                <a:cs typeface="Calibri" pitchFamily="34" charset="-120"/>
              </a:rPr>
              <a:t>The most valuable thing you can give me: the name of one owner I should validate this with next.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E"/>
        </a:solidFill>
      </p:bgPr>
    </p:bg>
    <p:spTree>
      <p:nvGrpSpPr>
        <p:cNvPr id="1" name=""/>
        <p:cNvGrpSpPr/>
        <p:nvPr/>
      </p:nvGrpSpPr>
      <p:grpSpPr>
        <a:xfrm>
          <a:off x="0" y="0"/>
          <a:ext cx="0" cy="0"/>
          <a:chOff x="0" y="0"/>
          <a:chExt cx="0" cy="0"/>
        </a:xfrm>
      </p:grpSpPr>
      <p:sp>
        <p:nvSpPr>
          <p:cNvPr id="2" name="Shape 0"/>
          <p:cNvSpPr/>
          <p:nvPr/>
        </p:nvSpPr>
        <p:spPr>
          <a:xfrm>
            <a:off x="-1463040" y="-1463040"/>
            <a:ext cx="4023360" cy="4023360"/>
          </a:xfrm>
          <a:prstGeom prst="ellipse">
            <a:avLst/>
          </a:prstGeom>
          <a:solidFill>
            <a:srgbClr val="2C3E52"/>
          </a:solidFill>
          <a:ln/>
        </p:spPr>
      </p:sp>
      <p:sp>
        <p:nvSpPr>
          <p:cNvPr id="3" name="Shape 1"/>
          <p:cNvSpPr/>
          <p:nvPr/>
        </p:nvSpPr>
        <p:spPr>
          <a:xfrm>
            <a:off x="10607040" y="4572000"/>
            <a:ext cx="3291840" cy="3291840"/>
          </a:xfrm>
          <a:prstGeom prst="ellipse">
            <a:avLst/>
          </a:prstGeom>
          <a:solidFill>
            <a:srgbClr val="F5A623"/>
          </a:solidFill>
          <a:ln/>
        </p:spPr>
      </p:sp>
      <p:sp>
        <p:nvSpPr>
          <p:cNvPr id="4" name="Text 2"/>
          <p:cNvSpPr/>
          <p:nvPr/>
        </p:nvSpPr>
        <p:spPr>
          <a:xfrm>
            <a:off x="1005840" y="2148840"/>
            <a:ext cx="9601200" cy="2011680"/>
          </a:xfrm>
          <a:prstGeom prst="rect">
            <a:avLst/>
          </a:prstGeom>
          <a:noFill/>
          <a:ln/>
        </p:spPr>
        <p:txBody>
          <a:bodyPr wrap="square" lIns="0" tIns="0" rIns="0" bIns="0" rtlCol="0" anchor="ctr"/>
          <a:lstStyle/>
          <a:p>
            <a:pPr indent="0" marL="0">
              <a:lnSpc>
                <a:spcPct val="110000"/>
              </a:lnSpc>
              <a:buNone/>
            </a:pPr>
            <a:r>
              <a:rPr lang="en-US" sz="4000" b="1" i="1" dirty="0">
                <a:solidFill>
                  <a:srgbClr val="FFFFFF"/>
                </a:solidFill>
                <a:latin typeface="Cambria" pitchFamily="34" charset="0"/>
                <a:ea typeface="Cambria" pitchFamily="34" charset="-122"/>
                <a:cs typeface="Cambria" pitchFamily="34" charset="-120"/>
              </a:rPr>
              <a:t>“I'd rather kill a bad idea early</a:t>
            </a:r>
            <a:endParaRPr lang="en-US" sz="4000" dirty="0"/>
          </a:p>
          <a:p>
            <a:pPr indent="0" marL="0">
              <a:lnSpc>
                <a:spcPct val="110000"/>
              </a:lnSpc>
              <a:buNone/>
            </a:pPr>
            <a:r>
              <a:rPr lang="en-US" sz="4000" b="1" i="1" dirty="0">
                <a:solidFill>
                  <a:srgbClr val="FFFFFF"/>
                </a:solidFill>
                <a:latin typeface="Cambria" pitchFamily="34" charset="0"/>
                <a:ea typeface="Cambria" pitchFamily="34" charset="-122"/>
                <a:cs typeface="Cambria" pitchFamily="34" charset="-120"/>
              </a:rPr>
              <a:t>than defend it late.”</a:t>
            </a:r>
            <a:endParaRPr lang="en-US" sz="4000" dirty="0"/>
          </a:p>
        </p:txBody>
      </p:sp>
      <p:sp>
        <p:nvSpPr>
          <p:cNvPr id="5" name="Text 3"/>
          <p:cNvSpPr/>
          <p:nvPr/>
        </p:nvSpPr>
        <p:spPr>
          <a:xfrm>
            <a:off x="1005840" y="4389120"/>
            <a:ext cx="9601200" cy="548640"/>
          </a:xfrm>
          <a:prstGeom prst="rect">
            <a:avLst/>
          </a:prstGeom>
          <a:noFill/>
          <a:ln/>
        </p:spPr>
        <p:txBody>
          <a:bodyPr wrap="square" lIns="0" tIns="0" rIns="0" bIns="0" rtlCol="0" anchor="ctr"/>
          <a:lstStyle/>
          <a:p>
            <a:pPr indent="0" marL="0">
              <a:buNone/>
            </a:pPr>
            <a:r>
              <a:rPr lang="en-US" sz="2000" dirty="0">
                <a:solidFill>
                  <a:srgbClr val="F5A623"/>
                </a:solidFill>
                <a:latin typeface="Calibri" pitchFamily="34" charset="0"/>
                <a:ea typeface="Calibri" pitchFamily="34" charset="-122"/>
                <a:cs typeface="Calibri" pitchFamily="34" charset="-120"/>
              </a:rPr>
              <a:t>Thank you — please be blunt. Where am I fooling myself?</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TurboFix — Pain-Point Validation</dc:title>
  <dc:subject>PptxGenJS Presentation</dc:subject>
  <dc:creator>Neetesh Kumar Soni</dc:creator>
  <cp:lastModifiedBy>Neetesh Kumar Soni</cp:lastModifiedBy>
  <cp:revision>1</cp:revision>
  <dcterms:created xsi:type="dcterms:W3CDTF">2026-07-19T06:46:04Z</dcterms:created>
  <dcterms:modified xsi:type="dcterms:W3CDTF">2026-07-19T06:46:04Z</dcterms:modified>
</cp:coreProperties>
</file>